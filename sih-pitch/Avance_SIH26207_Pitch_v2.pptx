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B1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BGPlate"/>
          <p:cNvSpPr/>
          <p:nvPr/>
        </p:nvSpPr>
        <p:spPr>
          <a:xfrm>
            <a:off x="-45720" y="-45720"/>
            <a:ext cx="12280392" cy="6949440"/>
          </a:xfrm>
          <a:prstGeom prst="rect">
            <a:avLst/>
          </a:prstGeom>
          <a:gradFill rotWithShape="1">
            <a:gsLst>
              <a:gs pos="0">
                <a:srgbClr val="0A0B10"/>
              </a:gs>
              <a:gs pos="100000">
                <a:srgbClr val="3B1F7A"/>
              </a:gs>
            </a:gsLst>
            <a:lin scaled="0" ang="141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GlowOrb"/>
          <p:cNvSpPr/>
          <p:nvPr/>
        </p:nvSpPr>
        <p:spPr>
          <a:xfrm>
            <a:off x="6400800" y="-2286000"/>
            <a:ext cx="6583680" cy="6583680"/>
          </a:xfrm>
          <a:prstGeom prst="ellipse">
            <a:avLst/>
          </a:prstGeom>
          <a:solidFill>
            <a:srgbClr val="B497CF">
              <a:alpha val="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GlowOrb_1"/>
          <p:cNvSpPr/>
          <p:nvPr/>
        </p:nvSpPr>
        <p:spPr>
          <a:xfrm>
            <a:off x="7454188" y="-1232611"/>
            <a:ext cx="4476902" cy="4476902"/>
          </a:xfrm>
          <a:prstGeom prst="ellipse">
            <a:avLst/>
          </a:prstGeom>
          <a:solidFill>
            <a:srgbClr val="B497CF">
              <a:alpha val="13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GlowOrb_2"/>
          <p:cNvSpPr/>
          <p:nvPr/>
        </p:nvSpPr>
        <p:spPr>
          <a:xfrm>
            <a:off x="8375904" y="-310896"/>
            <a:ext cx="2633472" cy="2633472"/>
          </a:xfrm>
          <a:prstGeom prst="ellipse">
            <a:avLst/>
          </a:prstGeom>
          <a:solidFill>
            <a:srgbClr val="B497CF">
              <a:alpha val="2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GlowOrb_3"/>
          <p:cNvSpPr/>
          <p:nvPr/>
        </p:nvSpPr>
        <p:spPr>
          <a:xfrm>
            <a:off x="9100108" y="413308"/>
            <a:ext cx="1185062" cy="1185062"/>
          </a:xfrm>
          <a:prstGeom prst="ellipse">
            <a:avLst/>
          </a:prstGeom>
          <a:solidFill>
            <a:srgbClr val="B497CF">
              <a:alpha val="2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GlowOrb2"/>
          <p:cNvSpPr/>
          <p:nvPr/>
        </p:nvSpPr>
        <p:spPr>
          <a:xfrm>
            <a:off x="-548640" y="3657599"/>
            <a:ext cx="4754880" cy="4754880"/>
          </a:xfrm>
          <a:prstGeom prst="ellipse">
            <a:avLst/>
          </a:prstGeom>
          <a:solidFill>
            <a:srgbClr val="8B85FF">
              <a:alpha val="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GlowOrb2_1"/>
          <p:cNvSpPr/>
          <p:nvPr/>
        </p:nvSpPr>
        <p:spPr>
          <a:xfrm>
            <a:off x="212140" y="4418380"/>
            <a:ext cx="3233318" cy="3233318"/>
          </a:xfrm>
          <a:prstGeom prst="ellipse">
            <a:avLst/>
          </a:prstGeom>
          <a:solidFill>
            <a:srgbClr val="8B85FF">
              <a:alpha val="13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GlowOrb2_2"/>
          <p:cNvSpPr/>
          <p:nvPr/>
        </p:nvSpPr>
        <p:spPr>
          <a:xfrm>
            <a:off x="877824" y="5084064"/>
            <a:ext cx="1901952" cy="1901952"/>
          </a:xfrm>
          <a:prstGeom prst="ellipse">
            <a:avLst/>
          </a:prstGeom>
          <a:solidFill>
            <a:srgbClr val="8B85FF">
              <a:alpha val="2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GlowOrb2_3"/>
          <p:cNvSpPr/>
          <p:nvPr/>
        </p:nvSpPr>
        <p:spPr>
          <a:xfrm>
            <a:off x="1400860" y="5607100"/>
            <a:ext cx="855878" cy="855878"/>
          </a:xfrm>
          <a:prstGeom prst="ellipse">
            <a:avLst/>
          </a:prstGeom>
          <a:solidFill>
            <a:srgbClr val="8B85FF">
              <a:alpha val="2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40080" y="548640"/>
            <a:ext cx="2331720" cy="384048"/>
          </a:xfrm>
          <a:prstGeom prst="roundRect">
            <a:avLst>
              <a:gd name="adj" fmla="val 50000"/>
            </a:avLst>
          </a:prstGeom>
          <a:solidFill>
            <a:srgbClr val="B497CF">
              <a:alpha val="16000"/>
            </a:srgbClr>
          </a:solidFill>
          <a:ln w="13970">
            <a:solidFill>
              <a:srgbClr val="B497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548640"/>
            <a:ext cx="233172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50" b="1" i="0">
                <a:solidFill>
                  <a:srgbClr val="B497CF"/>
                </a:solidFill>
                <a:latin typeface="Consolas"/>
              </a:rPr>
              <a:t>SIH26207 · SOFTWARE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1371600"/>
            <a:ext cx="108813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 i="0" spc="200">
                <a:solidFill>
                  <a:srgbClr val="FFFFFF">
                    <a:alpha val="60000"/>
                  </a:srgbClr>
                </a:solidFill>
                <a:latin typeface="Consolas"/>
              </a:rPr>
              <a:t>AICTE · MIC – STUDENT INNOVATION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03504" y="1874519"/>
            <a:ext cx="1088136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200" b="1" i="0">
                <a:solidFill>
                  <a:srgbClr val="FFFFFF"/>
                </a:solidFill>
                <a:latin typeface="Segoe UI"/>
              </a:rPr>
              <a:t>AVANCE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3456432"/>
            <a:ext cx="96012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0" i="1">
                <a:solidFill>
                  <a:srgbClr val="8B85FF"/>
                </a:solidFill>
                <a:latin typeface="Segoe UI"/>
              </a:rPr>
              <a:t>A game layer for real-world work.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4096512"/>
            <a:ext cx="987552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0" i="1">
                <a:solidFill>
                  <a:srgbClr val="FFFFFF">
                    <a:alpha val="62000"/>
                  </a:srgbClr>
                </a:solidFill>
                <a:latin typeface="Segoe UI"/>
              </a:rPr>
              <a:t>“Smart Education — a concept that describes learning in the digital age; helping learners learn more efficiently, effectively, flexibly and comfortably.”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40080" y="5074920"/>
            <a:ext cx="10881360" cy="10972"/>
          </a:xfrm>
          <a:prstGeom prst="rect">
            <a:avLst/>
          </a:prstGeom>
          <a:solidFill>
            <a:srgbClr val="232634">
              <a:alpha val="10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0080" y="5349240"/>
            <a:ext cx="2606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 spc="160">
                <a:solidFill>
                  <a:srgbClr val="B497CF"/>
                </a:solidFill>
                <a:latin typeface="Consolas"/>
              </a:rPr>
              <a:t>TEAM NAME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5623560"/>
            <a:ext cx="26060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FFFFFF">
                    <a:alpha val="90000"/>
                  </a:srgbClr>
                </a:solidFill>
                <a:latin typeface="Segoe UI"/>
              </a:rPr>
              <a:t>[ Your Team Name ]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337560" y="5349240"/>
            <a:ext cx="2606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 spc="160">
                <a:solidFill>
                  <a:srgbClr val="B497CF"/>
                </a:solidFill>
                <a:latin typeface="Consolas"/>
              </a:rPr>
              <a:t>TEAM LEADER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337560" y="5623560"/>
            <a:ext cx="26060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FFFFFF">
                    <a:alpha val="90000"/>
                  </a:srgbClr>
                </a:solidFill>
                <a:latin typeface="Segoe UI"/>
              </a:rPr>
              <a:t>[ Leader Name ]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035040" y="5349240"/>
            <a:ext cx="2606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 spc="160">
                <a:solidFill>
                  <a:srgbClr val="B497CF"/>
                </a:solidFill>
                <a:latin typeface="Consolas"/>
              </a:rPr>
              <a:t>INSTITUTION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035040" y="5623560"/>
            <a:ext cx="26060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FFFFFF">
                    <a:alpha val="90000"/>
                  </a:srgbClr>
                </a:solidFill>
                <a:latin typeface="Segoe UI"/>
              </a:rPr>
              <a:t>[ Institution ]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732520" y="5349240"/>
            <a:ext cx="2606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 spc="160">
                <a:solidFill>
                  <a:srgbClr val="B497CF"/>
                </a:solidFill>
                <a:latin typeface="Consolas"/>
              </a:rPr>
              <a:t>MENTOR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732520" y="5623560"/>
            <a:ext cx="26060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FFFFFF">
                    <a:alpha val="90000"/>
                  </a:srgbClr>
                </a:solidFill>
                <a:latin typeface="Segoe UI"/>
              </a:rPr>
              <a:t>[ Mentor Name ]</a:t>
            </a:r>
          </a:p>
        </p:txBody>
      </p:sp>
    </p:spTree>
  </p:cSld>
  <p:transition spd="slow">
    <p:fade thruBlk="0"/>
  </p:transition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BGPlate"/>
          <p:cNvSpPr/>
          <p:nvPr/>
        </p:nvSpPr>
        <p:spPr>
          <a:xfrm>
            <a:off x="-45720" y="-45720"/>
            <a:ext cx="12280392" cy="6949440"/>
          </a:xfrm>
          <a:prstGeom prst="rect">
            <a:avLst/>
          </a:prstGeom>
          <a:gradFill rotWithShape="1">
            <a:gsLst>
              <a:gs pos="0">
                <a:srgbClr val="0A0B10"/>
              </a:gs>
              <a:gs pos="100000">
                <a:srgbClr val="3B1F7A"/>
              </a:gs>
            </a:gsLst>
            <a:lin scaled="0" ang="156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GlowOrb"/>
          <p:cNvSpPr/>
          <p:nvPr/>
        </p:nvSpPr>
        <p:spPr>
          <a:xfrm>
            <a:off x="8229600" y="3566160"/>
            <a:ext cx="5486400" cy="5486400"/>
          </a:xfrm>
          <a:prstGeom prst="ellipse">
            <a:avLst/>
          </a:prstGeom>
          <a:solidFill>
            <a:srgbClr val="B497CF">
              <a:alpha val="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GlowOrb_1"/>
          <p:cNvSpPr/>
          <p:nvPr/>
        </p:nvSpPr>
        <p:spPr>
          <a:xfrm>
            <a:off x="9107424" y="4443984"/>
            <a:ext cx="3730752" cy="3730752"/>
          </a:xfrm>
          <a:prstGeom prst="ellipse">
            <a:avLst/>
          </a:prstGeom>
          <a:solidFill>
            <a:srgbClr val="B497CF">
              <a:alpha val="13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GlowOrb_2"/>
          <p:cNvSpPr/>
          <p:nvPr/>
        </p:nvSpPr>
        <p:spPr>
          <a:xfrm>
            <a:off x="9875520" y="5212080"/>
            <a:ext cx="2194560" cy="2194560"/>
          </a:xfrm>
          <a:prstGeom prst="ellipse">
            <a:avLst/>
          </a:prstGeom>
          <a:solidFill>
            <a:srgbClr val="B497CF">
              <a:alpha val="2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GlowOrb_3"/>
          <p:cNvSpPr/>
          <p:nvPr/>
        </p:nvSpPr>
        <p:spPr>
          <a:xfrm>
            <a:off x="10479024" y="5815584"/>
            <a:ext cx="987552" cy="987552"/>
          </a:xfrm>
          <a:prstGeom prst="ellipse">
            <a:avLst/>
          </a:prstGeom>
          <a:solidFill>
            <a:srgbClr val="B497CF">
              <a:alpha val="2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384048"/>
            <a:ext cx="9601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 spc="220">
                <a:solidFill>
                  <a:srgbClr val="B497CF"/>
                </a:solidFill>
                <a:latin typeface="Consolas"/>
              </a:rPr>
              <a:t>02   THE IDEA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" y="685800"/>
            <a:ext cx="1088136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300" b="1" i="0">
                <a:solidFill>
                  <a:srgbClr val="FFFFFF"/>
                </a:solidFill>
                <a:latin typeface="Segoe UI"/>
              </a:rPr>
              <a:t>See it before the deadline does.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1298448"/>
            <a:ext cx="1005840" cy="41148"/>
          </a:xfrm>
          <a:prstGeom prst="rect">
            <a:avLst/>
          </a:prstGeom>
          <a:ln>
            <a:noFill/>
          </a:ln>
          <a:effectLst/>
          <a:gradFill rotWithShape="1">
            <a:gsLst>
              <a:gs pos="0">
                <a:srgbClr val="B497CF"/>
              </a:gs>
              <a:gs pos="100000">
                <a:srgbClr val="B497CF">
                  <a:alpha val="0"/>
                </a:srgbClr>
              </a:gs>
            </a:gsLst>
            <a:lin ang="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2011680"/>
            <a:ext cx="50292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0">
                <a:solidFill>
                  <a:srgbClr val="FFFFFF">
                    <a:alpha val="70000"/>
                  </a:srgbClr>
                </a:solidFill>
                <a:latin typeface="Segoe UI"/>
              </a:rPr>
              <a:t>Digital learning tools track content delivery — not follow-through. Institutions learn a student is behind only when the deadline already has.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2724912"/>
            <a:ext cx="5029200" cy="749808"/>
          </a:xfrm>
          <a:prstGeom prst="roundRect">
            <a:avLst>
              <a:gd name="adj" fmla="val 6000"/>
            </a:avLst>
          </a:prstGeom>
          <a:solidFill>
            <a:srgbClr val="1C1A3A">
              <a:alpha val="70000"/>
            </a:srgbClr>
          </a:solidFill>
          <a:ln w="12700">
            <a:solidFill>
              <a:srgbClr val="B497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2816352"/>
            <a:ext cx="4572000" cy="5852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1" i="1">
                <a:solidFill>
                  <a:srgbClr val="FFFFFF"/>
                </a:solidFill>
                <a:latin typeface="Segoe UI"/>
              </a:rPr>
              <a:t>“Not a to-do list with XP — a progress-visibility system with a motivation layer.”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3611880"/>
            <a:ext cx="2432304" cy="1207008"/>
          </a:xfrm>
          <a:prstGeom prst="roundRect">
            <a:avLst>
              <a:gd name="adj" fmla="val 6000"/>
            </a:avLst>
          </a:prstGeom>
          <a:solidFill>
            <a:srgbClr val="12141C">
              <a:alpha val="65000"/>
            </a:srgbClr>
          </a:solidFill>
          <a:ln w="12700">
            <a:solidFill>
              <a:srgbClr val="2326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2959" y="3739896"/>
            <a:ext cx="206654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120">
                <a:solidFill>
                  <a:srgbClr val="B497CF"/>
                </a:solidFill>
                <a:latin typeface="Consolas"/>
              </a:rPr>
              <a:t>PERSONALIZED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59" y="4032504"/>
            <a:ext cx="2066544" cy="676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 i="0">
                <a:solidFill>
                  <a:srgbClr val="FFFFFF">
                    <a:alpha val="80000"/>
                  </a:srgbClr>
                </a:solidFill>
                <a:latin typeface="Segoe UI"/>
              </a:rPr>
              <a:t>AI Quest Builder turns each assignment into a per-student checkpoint path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236976" y="3611880"/>
            <a:ext cx="2432304" cy="1207008"/>
          </a:xfrm>
          <a:prstGeom prst="roundRect">
            <a:avLst>
              <a:gd name="adj" fmla="val 6000"/>
            </a:avLst>
          </a:prstGeom>
          <a:solidFill>
            <a:srgbClr val="12141C">
              <a:alpha val="65000"/>
            </a:srgbClr>
          </a:solidFill>
          <a:ln w="12700">
            <a:solidFill>
              <a:srgbClr val="2326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419856" y="3739896"/>
            <a:ext cx="206654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120">
                <a:solidFill>
                  <a:srgbClr val="B497CF"/>
                </a:solidFill>
                <a:latin typeface="Consolas"/>
              </a:rPr>
              <a:t>GAMIFIED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419856" y="4032504"/>
            <a:ext cx="2066544" cy="676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 i="0">
                <a:solidFill>
                  <a:srgbClr val="FFFFFF">
                    <a:alpha val="80000"/>
                  </a:srgbClr>
                </a:solidFill>
                <a:latin typeface="Segoe UI"/>
              </a:rPr>
              <a:t>XP, streaks and a group leaderboard wrapped around real checkpoints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40080" y="4946904"/>
            <a:ext cx="2432304" cy="1207008"/>
          </a:xfrm>
          <a:prstGeom prst="roundRect">
            <a:avLst>
              <a:gd name="adj" fmla="val 6000"/>
            </a:avLst>
          </a:prstGeom>
          <a:solidFill>
            <a:srgbClr val="12141C">
              <a:alpha val="65000"/>
            </a:srgbClr>
          </a:solidFill>
          <a:ln w="12700">
            <a:solidFill>
              <a:srgbClr val="2326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22959" y="5074920"/>
            <a:ext cx="206654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120">
                <a:solidFill>
                  <a:srgbClr val="B497CF"/>
                </a:solidFill>
                <a:latin typeface="Consolas"/>
              </a:rPr>
              <a:t>DATA-DRIVEN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2959" y="5367528"/>
            <a:ext cx="2066544" cy="676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 i="0">
                <a:solidFill>
                  <a:srgbClr val="FFFFFF">
                    <a:alpha val="80000"/>
                  </a:srgbClr>
                </a:solidFill>
                <a:latin typeface="Segoe UI"/>
              </a:rPr>
              <a:t>Command Center: on-track / at-risk / critical + bottleneck analytics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3236976" y="4946904"/>
            <a:ext cx="2432304" cy="1207008"/>
          </a:xfrm>
          <a:prstGeom prst="roundRect">
            <a:avLst>
              <a:gd name="adj" fmla="val 6000"/>
            </a:avLst>
          </a:prstGeom>
          <a:solidFill>
            <a:srgbClr val="12141C">
              <a:alpha val="65000"/>
            </a:srgbClr>
          </a:solidFill>
          <a:ln w="12700">
            <a:solidFill>
              <a:srgbClr val="2326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419856" y="5074920"/>
            <a:ext cx="206654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120">
                <a:solidFill>
                  <a:srgbClr val="B497CF"/>
                </a:solidFill>
                <a:latin typeface="Consolas"/>
              </a:rPr>
              <a:t>ACCESSIBLE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419856" y="5367528"/>
            <a:ext cx="2066544" cy="676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 i="0">
                <a:solidFill>
                  <a:srgbClr val="FFFFFF">
                    <a:alpha val="80000"/>
                  </a:srgbClr>
                </a:solidFill>
                <a:latin typeface="Segoe UI"/>
              </a:rPr>
              <a:t>Big assignments become small linear steps — no confusing skill trees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989320" y="2011680"/>
            <a:ext cx="5577840" cy="4160520"/>
          </a:xfrm>
          <a:prstGeom prst="roundRect">
            <a:avLst>
              <a:gd name="adj" fmla="val 6000"/>
            </a:avLst>
          </a:prstGeom>
          <a:solidFill>
            <a:srgbClr val="12141C">
              <a:alpha val="78000"/>
            </a:srgbClr>
          </a:solidFill>
          <a:ln w="12700">
            <a:solidFill>
              <a:srgbClr val="2326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217920" y="2157984"/>
            <a:ext cx="5120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 spc="80">
                <a:solidFill>
                  <a:srgbClr val="FFFFFF">
                    <a:alpha val="55000"/>
                  </a:srgbClr>
                </a:solidFill>
                <a:latin typeface="Consolas"/>
              </a:rPr>
              <a:t>LIVE ON THE PLATFORM (swap for your screenshot)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217920" y="2487168"/>
            <a:ext cx="5120640" cy="1691640"/>
          </a:xfrm>
          <a:prstGeom prst="roundRect">
            <a:avLst>
              <a:gd name="adj" fmla="val 6000"/>
            </a:avLst>
          </a:prstGeom>
          <a:solidFill>
            <a:srgbClr val="1C1A3A">
              <a:alpha val="85000"/>
            </a:srgbClr>
          </a:solidFill>
          <a:ln w="12700">
            <a:solidFill>
              <a:srgbClr val="2326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00800" y="2606040"/>
            <a:ext cx="47548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1" i="0" spc="140">
                <a:solidFill>
                  <a:srgbClr val="B497CF"/>
                </a:solidFill>
                <a:latin typeface="Consolas"/>
              </a:rPr>
              <a:t>CURRENT QUEST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00800" y="2834640"/>
            <a:ext cx="47548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Segoe UI"/>
              </a:rPr>
              <a:t>Build the Banking System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400800" y="3218688"/>
            <a:ext cx="3566160" cy="146304"/>
          </a:xfrm>
          <a:prstGeom prst="roundRect">
            <a:avLst>
              <a:gd name="adj" fmla="val 50000"/>
            </a:avLst>
          </a:prstGeom>
          <a:solidFill>
            <a:srgbClr val="232634">
              <a:alpha val="6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6400800" y="3218688"/>
            <a:ext cx="2139696" cy="146304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B497CF"/>
              </a:gs>
              <a:gs pos="100000">
                <a:srgbClr val="8B85FF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0058400" y="3163824"/>
            <a:ext cx="82296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FFFFFF"/>
                </a:solidFill>
                <a:latin typeface="Consolas"/>
              </a:rPr>
              <a:t>60%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400800" y="3493008"/>
            <a:ext cx="23774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FFFFFF">
                    <a:alpha val="65000"/>
                  </a:srgbClr>
                </a:solidFill>
                <a:latin typeface="Segoe UI"/>
              </a:rPr>
              <a:t>Checkpoint: Testing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869680" y="3493008"/>
            <a:ext cx="210312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FFFFFF">
                    <a:alpha val="65000"/>
                  </a:srgbClr>
                </a:solidFill>
                <a:latin typeface="Segoe UI"/>
              </a:rPr>
              <a:t>Deadline: 3d 14h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400800" y="3749039"/>
            <a:ext cx="23774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FFFFFF">
                    <a:alpha val="65000"/>
                  </a:srgbClr>
                </a:solidFill>
                <a:latin typeface="Segoe UI"/>
              </a:rPr>
              <a:t>Next: Documentation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869680" y="3749039"/>
            <a:ext cx="210312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50" b="1" i="0">
                <a:solidFill>
                  <a:srgbClr val="8B85FF"/>
                </a:solidFill>
                <a:latin typeface="Segoe UI"/>
              </a:rPr>
              <a:t>Rank #12 / 58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6217920" y="4315968"/>
            <a:ext cx="5120640" cy="1737360"/>
          </a:xfrm>
          <a:prstGeom prst="roundRect">
            <a:avLst>
              <a:gd name="adj" fmla="val 6000"/>
            </a:avLst>
          </a:prstGeom>
          <a:solidFill>
            <a:srgbClr val="1C1A3A">
              <a:alpha val="85000"/>
            </a:srgbClr>
          </a:solidFill>
          <a:ln w="12700">
            <a:solidFill>
              <a:srgbClr val="2326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400800" y="4434840"/>
            <a:ext cx="47548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1" i="0" spc="140">
                <a:solidFill>
                  <a:srgbClr val="B497CF"/>
                </a:solidFill>
                <a:latin typeface="Consolas"/>
              </a:rPr>
              <a:t>CLASS COMMAND CENTER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6400800" y="4700016"/>
            <a:ext cx="1417320" cy="329184"/>
          </a:xfrm>
          <a:prstGeom prst="roundRect">
            <a:avLst>
              <a:gd name="adj" fmla="val 50000"/>
            </a:avLst>
          </a:prstGeom>
          <a:solidFill>
            <a:srgbClr val="34D399">
              <a:alpha val="22000"/>
            </a:srgbClr>
          </a:solidFill>
          <a:ln w="13970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400800" y="4700016"/>
            <a:ext cx="141732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950" b="1" i="0">
                <a:solidFill>
                  <a:srgbClr val="34D399"/>
                </a:solidFill>
                <a:latin typeface="Consolas"/>
              </a:rPr>
              <a:t>41 ON TRACK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7909560" y="4700016"/>
            <a:ext cx="1371600" cy="329184"/>
          </a:xfrm>
          <a:prstGeom prst="roundRect">
            <a:avLst>
              <a:gd name="adj" fmla="val 50000"/>
            </a:avLst>
          </a:prstGeom>
          <a:solidFill>
            <a:srgbClr val="FBBF24">
              <a:alpha val="22000"/>
            </a:srgbClr>
          </a:solidFill>
          <a:ln w="13970">
            <a:solidFill>
              <a:srgbClr val="FBBF2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7909560" y="4700016"/>
            <a:ext cx="137160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950" b="1" i="0">
                <a:solidFill>
                  <a:srgbClr val="FBBF24"/>
                </a:solidFill>
                <a:latin typeface="Consolas"/>
              </a:rPr>
              <a:t>13 AT RISK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9372600" y="4700016"/>
            <a:ext cx="1325880" cy="329184"/>
          </a:xfrm>
          <a:prstGeom prst="roundRect">
            <a:avLst>
              <a:gd name="adj" fmla="val 50000"/>
            </a:avLst>
          </a:prstGeom>
          <a:solidFill>
            <a:srgbClr val="F87171">
              <a:alpha val="22000"/>
            </a:srgbClr>
          </a:solidFill>
          <a:ln w="13970">
            <a:solidFill>
              <a:srgbClr val="F8717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9372600" y="4700016"/>
            <a:ext cx="132588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950" b="1" i="0">
                <a:solidFill>
                  <a:srgbClr val="F87171"/>
                </a:solidFill>
                <a:latin typeface="Consolas"/>
              </a:rPr>
              <a:t>6 CRITICAL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400800" y="5193792"/>
            <a:ext cx="155448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FFFFFF">
                    <a:alpha val="65000"/>
                  </a:srgbClr>
                </a:solidFill>
                <a:latin typeface="Consolas"/>
              </a:rPr>
              <a:t>Requirements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8001000" y="5221224"/>
            <a:ext cx="2651760" cy="128016"/>
          </a:xfrm>
          <a:prstGeom prst="roundRect">
            <a:avLst>
              <a:gd name="adj" fmla="val 50000"/>
            </a:avLst>
          </a:prstGeom>
          <a:solidFill>
            <a:srgbClr val="232634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ounded Rectangle 46"/>
          <p:cNvSpPr/>
          <p:nvPr/>
        </p:nvSpPr>
        <p:spPr>
          <a:xfrm>
            <a:off x="8001000" y="5221224"/>
            <a:ext cx="2545689" cy="128016"/>
          </a:xfrm>
          <a:prstGeom prst="roundRect">
            <a:avLst>
              <a:gd name="adj" fmla="val 50000"/>
            </a:avLst>
          </a:prstGeom>
          <a:solidFill>
            <a:srgbClr val="8B85FF">
              <a:alpha val="9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10652760" y="5184648"/>
            <a:ext cx="4572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FFFFFF"/>
                </a:solidFill>
                <a:latin typeface="Consolas"/>
              </a:rPr>
              <a:t>96%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400800" y="5440680"/>
            <a:ext cx="155448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FFFFFF">
                    <a:alpha val="65000"/>
                  </a:srgbClr>
                </a:solidFill>
                <a:latin typeface="Consolas"/>
              </a:rPr>
              <a:t>Testing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8001000" y="5468112"/>
            <a:ext cx="2651760" cy="128016"/>
          </a:xfrm>
          <a:prstGeom prst="roundRect">
            <a:avLst>
              <a:gd name="adj" fmla="val 50000"/>
            </a:avLst>
          </a:prstGeom>
          <a:solidFill>
            <a:srgbClr val="232634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ounded Rectangle 50"/>
          <p:cNvSpPr/>
          <p:nvPr/>
        </p:nvSpPr>
        <p:spPr>
          <a:xfrm>
            <a:off x="8001000" y="5468112"/>
            <a:ext cx="1140256" cy="128016"/>
          </a:xfrm>
          <a:prstGeom prst="roundRect">
            <a:avLst>
              <a:gd name="adj" fmla="val 50000"/>
            </a:avLst>
          </a:prstGeom>
          <a:solidFill>
            <a:srgbClr val="FBBF24">
              <a:alpha val="9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10652760" y="5431536"/>
            <a:ext cx="4572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FBBF24"/>
                </a:solidFill>
                <a:latin typeface="Consolas"/>
              </a:rPr>
              <a:t>43% ⚠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40080" y="6473952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 spc="100">
                <a:solidFill>
                  <a:srgbClr val="FFFFFF">
                    <a:alpha val="55000"/>
                  </a:srgbClr>
                </a:solidFill>
                <a:latin typeface="Consolas"/>
              </a:rPr>
              <a:t>SIH26207 · AVANCE — SMART EDUCATION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106424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FFFFFF">
                    <a:alpha val="55000"/>
                  </a:srgbClr>
                </a:solidFill>
                <a:latin typeface="Consolas"/>
              </a:rPr>
              <a:t>02 / 06</a:t>
            </a:r>
          </a:p>
        </p:txBody>
      </p:sp>
    </p:spTree>
  </p:cSld>
  <p:transition spd="med">
    <p:push dir="l"/>
  </p:transition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BGPlate"/>
          <p:cNvSpPr/>
          <p:nvPr/>
        </p:nvSpPr>
        <p:spPr>
          <a:xfrm>
            <a:off x="-45720" y="-45720"/>
            <a:ext cx="12280392" cy="6949440"/>
          </a:xfrm>
          <a:prstGeom prst="rect">
            <a:avLst/>
          </a:prstGeom>
          <a:gradFill rotWithShape="1">
            <a:gsLst>
              <a:gs pos="0">
                <a:srgbClr val="0A0B10"/>
              </a:gs>
              <a:gs pos="100000">
                <a:srgbClr val="3B1F7A"/>
              </a:gs>
            </a:gsLst>
            <a:lin scaled="0" ang="15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GlowOrb"/>
          <p:cNvSpPr/>
          <p:nvPr/>
        </p:nvSpPr>
        <p:spPr>
          <a:xfrm>
            <a:off x="-2011680" y="3383280"/>
            <a:ext cx="5852160" cy="5852160"/>
          </a:xfrm>
          <a:prstGeom prst="ellipse">
            <a:avLst/>
          </a:prstGeom>
          <a:solidFill>
            <a:srgbClr val="B497CF">
              <a:alpha val="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GlowOrb_1"/>
          <p:cNvSpPr/>
          <p:nvPr/>
        </p:nvSpPr>
        <p:spPr>
          <a:xfrm>
            <a:off x="-1075334" y="4319625"/>
            <a:ext cx="3979468" cy="3979468"/>
          </a:xfrm>
          <a:prstGeom prst="ellipse">
            <a:avLst/>
          </a:prstGeom>
          <a:solidFill>
            <a:srgbClr val="B497CF">
              <a:alpha val="13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GlowOrb_2"/>
          <p:cNvSpPr/>
          <p:nvPr/>
        </p:nvSpPr>
        <p:spPr>
          <a:xfrm>
            <a:off x="-256032" y="5138928"/>
            <a:ext cx="2340864" cy="2340864"/>
          </a:xfrm>
          <a:prstGeom prst="ellipse">
            <a:avLst/>
          </a:prstGeom>
          <a:solidFill>
            <a:srgbClr val="B497CF">
              <a:alpha val="2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GlowOrb_3"/>
          <p:cNvSpPr/>
          <p:nvPr/>
        </p:nvSpPr>
        <p:spPr>
          <a:xfrm>
            <a:off x="387705" y="5782665"/>
            <a:ext cx="1053388" cy="1053388"/>
          </a:xfrm>
          <a:prstGeom prst="ellipse">
            <a:avLst/>
          </a:prstGeom>
          <a:solidFill>
            <a:srgbClr val="B497CF">
              <a:alpha val="2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384048"/>
            <a:ext cx="9601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 spc="220">
                <a:solidFill>
                  <a:srgbClr val="B497CF"/>
                </a:solidFill>
                <a:latin typeface="Consolas"/>
              </a:rPr>
              <a:t>03   TECHNICAL APPROACH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" y="685800"/>
            <a:ext cx="1088136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300" b="1" i="0">
                <a:solidFill>
                  <a:srgbClr val="FFFFFF"/>
                </a:solidFill>
                <a:latin typeface="Segoe UI"/>
              </a:rPr>
              <a:t>From assignment to early warning.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1298448"/>
            <a:ext cx="1005840" cy="41148"/>
          </a:xfrm>
          <a:prstGeom prst="rect">
            <a:avLst/>
          </a:prstGeom>
          <a:ln>
            <a:noFill/>
          </a:ln>
          <a:effectLst/>
          <a:gradFill rotWithShape="1">
            <a:gsLst>
              <a:gs pos="0">
                <a:srgbClr val="B497CF"/>
              </a:gs>
              <a:gs pos="100000">
                <a:srgbClr val="B497CF">
                  <a:alpha val="0"/>
                </a:srgbClr>
              </a:gs>
            </a:gsLst>
            <a:lin ang="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40080" y="2148840"/>
            <a:ext cx="1572768" cy="960120"/>
          </a:xfrm>
          <a:prstGeom prst="roundRect">
            <a:avLst>
              <a:gd name="adj" fmla="val 6000"/>
            </a:avLst>
          </a:prstGeom>
          <a:solidFill>
            <a:srgbClr val="1C1A3A">
              <a:alpha val="75000"/>
            </a:srgbClr>
          </a:solidFill>
          <a:ln w="12700">
            <a:solidFill>
              <a:srgbClr val="B497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49808" y="2148840"/>
            <a:ext cx="1353312" cy="9601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1250" b="1" i="0">
                <a:solidFill>
                  <a:srgbClr val="FFFFFF"/>
                </a:solidFill>
                <a:latin typeface="Segoe UI"/>
              </a:rPr>
              <a:t>Assignment
Uploaded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212848" y="2148840"/>
            <a:ext cx="256032" cy="9601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000" b="0" i="0">
                <a:solidFill>
                  <a:srgbClr val="B497CF"/>
                </a:solidFill>
                <a:latin typeface="Segoe UI"/>
              </a:rPr>
              <a:t>→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468880" y="2148840"/>
            <a:ext cx="1572768" cy="960120"/>
          </a:xfrm>
          <a:prstGeom prst="roundRect">
            <a:avLst>
              <a:gd name="adj" fmla="val 6000"/>
            </a:avLst>
          </a:prstGeom>
          <a:solidFill>
            <a:srgbClr val="1C1A3A">
              <a:alpha val="75000"/>
            </a:srgbClr>
          </a:solidFill>
          <a:ln w="12700">
            <a:solidFill>
              <a:srgbClr val="B497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578608" y="2148840"/>
            <a:ext cx="1353312" cy="9601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1250" b="1" i="0">
                <a:solidFill>
                  <a:srgbClr val="FFFFFF"/>
                </a:solidFill>
                <a:latin typeface="Segoe UI"/>
              </a:rPr>
              <a:t>AI
Decomposition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041648" y="2148840"/>
            <a:ext cx="256032" cy="9601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000" b="0" i="0">
                <a:solidFill>
                  <a:srgbClr val="B497CF"/>
                </a:solidFill>
                <a:latin typeface="Segoe UI"/>
              </a:rPr>
              <a:t>→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297680" y="2148840"/>
            <a:ext cx="1572768" cy="960120"/>
          </a:xfrm>
          <a:prstGeom prst="roundRect">
            <a:avLst>
              <a:gd name="adj" fmla="val 6000"/>
            </a:avLst>
          </a:prstGeom>
          <a:solidFill>
            <a:srgbClr val="1C1A3A">
              <a:alpha val="75000"/>
            </a:srgbClr>
          </a:solidFill>
          <a:ln w="12700">
            <a:solidFill>
              <a:srgbClr val="B497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407408" y="2148840"/>
            <a:ext cx="1353312" cy="9601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1250" b="1" i="0">
                <a:solidFill>
                  <a:srgbClr val="FFFFFF"/>
                </a:solidFill>
                <a:latin typeface="Segoe UI"/>
              </a:rPr>
              <a:t>Human
Approval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40080" y="3520440"/>
            <a:ext cx="1572768" cy="960120"/>
          </a:xfrm>
          <a:prstGeom prst="roundRect">
            <a:avLst>
              <a:gd name="adj" fmla="val 6000"/>
            </a:avLst>
          </a:prstGeom>
          <a:solidFill>
            <a:srgbClr val="12141C">
              <a:alpha val="75000"/>
            </a:srgbClr>
          </a:solidFill>
          <a:ln w="12700">
            <a:solidFill>
              <a:srgbClr val="B497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49808" y="3520440"/>
            <a:ext cx="1353312" cy="9601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1250" b="1" i="0">
                <a:solidFill>
                  <a:srgbClr val="FFFFFF"/>
                </a:solidFill>
                <a:latin typeface="Segoe UI"/>
              </a:rPr>
              <a:t>Student
Progress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212848" y="3520440"/>
            <a:ext cx="256032" cy="9601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000" b="0" i="0">
                <a:solidFill>
                  <a:srgbClr val="B497CF"/>
                </a:solidFill>
                <a:latin typeface="Segoe UI"/>
              </a:rPr>
              <a:t>→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2468880" y="3520440"/>
            <a:ext cx="1572768" cy="960120"/>
          </a:xfrm>
          <a:prstGeom prst="roundRect">
            <a:avLst>
              <a:gd name="adj" fmla="val 6000"/>
            </a:avLst>
          </a:prstGeom>
          <a:solidFill>
            <a:srgbClr val="12141C">
              <a:alpha val="75000"/>
            </a:srgbClr>
          </a:solidFill>
          <a:ln w="12700">
            <a:solidFill>
              <a:srgbClr val="B497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2578608" y="3520440"/>
            <a:ext cx="1353312" cy="9601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1250" b="1" i="0">
                <a:solidFill>
                  <a:srgbClr val="FFFFFF"/>
                </a:solidFill>
                <a:latin typeface="Segoe UI"/>
              </a:rPr>
              <a:t>Risk
Detection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041648" y="3520440"/>
            <a:ext cx="256032" cy="9601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000" b="0" i="0">
                <a:solidFill>
                  <a:srgbClr val="B497CF"/>
                </a:solidFill>
                <a:latin typeface="Segoe UI"/>
              </a:rPr>
              <a:t>→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297680" y="3520440"/>
            <a:ext cx="1572768" cy="960120"/>
          </a:xfrm>
          <a:prstGeom prst="roundRect">
            <a:avLst>
              <a:gd name="adj" fmla="val 6000"/>
            </a:avLst>
          </a:prstGeom>
          <a:solidFill>
            <a:srgbClr val="12141C">
              <a:alpha val="75000"/>
            </a:srgbClr>
          </a:solidFill>
          <a:ln w="12700">
            <a:solidFill>
              <a:srgbClr val="B497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407408" y="3520440"/>
            <a:ext cx="1353312" cy="9601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1250" b="1" i="0">
                <a:solidFill>
                  <a:srgbClr val="FFFFFF"/>
                </a:solidFill>
                <a:latin typeface="Segoe UI"/>
              </a:rPr>
              <a:t>Org
Analytics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626864" y="3127248"/>
            <a:ext cx="914400" cy="320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800" b="0" i="0">
                <a:solidFill>
                  <a:srgbClr val="B497CF"/>
                </a:solidFill>
                <a:latin typeface="Segoe UI"/>
              </a:rPr>
              <a:t>↓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40080" y="4709160"/>
            <a:ext cx="5349240" cy="1417320"/>
          </a:xfrm>
          <a:prstGeom prst="roundRect">
            <a:avLst>
              <a:gd name="adj" fmla="val 6000"/>
            </a:avLst>
          </a:prstGeom>
          <a:solidFill>
            <a:srgbClr val="12141C">
              <a:alpha val="72000"/>
            </a:srgbClr>
          </a:solidFill>
          <a:ln w="12700">
            <a:solidFill>
              <a:srgbClr val="FBBF2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68680" y="4846320"/>
            <a:ext cx="4892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120">
                <a:solidFill>
                  <a:srgbClr val="FBBF24"/>
                </a:solidFill>
                <a:latin typeface="Consolas"/>
              </a:rPr>
              <a:t>AI SAFETY BY DESIGN</a:t>
            </a:r>
          </a:p>
        </p:txBody>
      </p:sp>
      <p:sp>
        <p:nvSpPr>
          <p:cNvPr id="29" name="Oval 28"/>
          <p:cNvSpPr/>
          <p:nvPr/>
        </p:nvSpPr>
        <p:spPr>
          <a:xfrm>
            <a:off x="868680" y="5234940"/>
            <a:ext cx="73152" cy="73152"/>
          </a:xfrm>
          <a:prstGeom prst="ellipse">
            <a:avLst/>
          </a:prstGeom>
          <a:solidFill>
            <a:srgbClr val="B497CF">
              <a:alpha val="10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88136" y="5166360"/>
            <a:ext cx="4718304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FFFFFF">
                    <a:alpha val="88000"/>
                  </a:srgbClr>
                </a:solidFill>
                <a:latin typeface="Segoe UI"/>
              </a:rPr>
              <a:t>AI proposes checkpoints — it never auto-publishes them</a:t>
            </a:r>
          </a:p>
        </p:txBody>
      </p:sp>
      <p:sp>
        <p:nvSpPr>
          <p:cNvPr id="31" name="Oval 30"/>
          <p:cNvSpPr/>
          <p:nvPr/>
        </p:nvSpPr>
        <p:spPr>
          <a:xfrm>
            <a:off x="868680" y="5618988"/>
            <a:ext cx="73152" cy="73152"/>
          </a:xfrm>
          <a:prstGeom prst="ellipse">
            <a:avLst/>
          </a:prstGeom>
          <a:solidFill>
            <a:srgbClr val="B497CF">
              <a:alpha val="10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088136" y="5550408"/>
            <a:ext cx="4718304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FFFFFF">
                    <a:alpha val="88000"/>
                  </a:srgbClr>
                </a:solidFill>
                <a:latin typeface="Segoe UI"/>
              </a:rPr>
              <a:t>Every generated field is human-editable before Approve &amp; Publish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172200" y="4709160"/>
            <a:ext cx="5394960" cy="1417320"/>
          </a:xfrm>
          <a:prstGeom prst="roundRect">
            <a:avLst>
              <a:gd name="adj" fmla="val 6000"/>
            </a:avLst>
          </a:prstGeom>
          <a:solidFill>
            <a:srgbClr val="12141C">
              <a:alpha val="72000"/>
            </a:srgbClr>
          </a:solidFill>
          <a:ln w="12700">
            <a:solidFill>
              <a:srgbClr val="2326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400800" y="4846320"/>
            <a:ext cx="4937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120">
                <a:solidFill>
                  <a:srgbClr val="B497CF"/>
                </a:solidFill>
                <a:latin typeface="Consolas"/>
              </a:rPr>
              <a:t>PRODUCTION STACK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6400800" y="5193792"/>
            <a:ext cx="941832" cy="365760"/>
          </a:xfrm>
          <a:prstGeom prst="roundRect">
            <a:avLst>
              <a:gd name="adj" fmla="val 50000"/>
            </a:avLst>
          </a:prstGeom>
          <a:solidFill>
            <a:srgbClr val="8B85FF">
              <a:alpha val="18000"/>
            </a:srgbClr>
          </a:solidFill>
          <a:ln w="13970">
            <a:solidFill>
              <a:srgbClr val="8B85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400800" y="5193792"/>
            <a:ext cx="941832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8B85FF"/>
                </a:solidFill>
                <a:latin typeface="Consolas"/>
              </a:rPr>
              <a:t>Next.js 16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7452360" y="5193792"/>
            <a:ext cx="630936" cy="365760"/>
          </a:xfrm>
          <a:prstGeom prst="roundRect">
            <a:avLst>
              <a:gd name="adj" fmla="val 50000"/>
            </a:avLst>
          </a:prstGeom>
          <a:solidFill>
            <a:srgbClr val="8B85FF">
              <a:alpha val="18000"/>
            </a:srgbClr>
          </a:solidFill>
          <a:ln w="13970">
            <a:solidFill>
              <a:srgbClr val="8B85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7452360" y="5193792"/>
            <a:ext cx="630936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8B85FF"/>
                </a:solidFill>
                <a:latin typeface="Consolas"/>
              </a:rPr>
              <a:t>Prisma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8193024" y="5193792"/>
            <a:ext cx="786384" cy="365760"/>
          </a:xfrm>
          <a:prstGeom prst="roundRect">
            <a:avLst>
              <a:gd name="adj" fmla="val 50000"/>
            </a:avLst>
          </a:prstGeom>
          <a:solidFill>
            <a:srgbClr val="8B85FF">
              <a:alpha val="18000"/>
            </a:srgbClr>
          </a:solidFill>
          <a:ln w="13970">
            <a:solidFill>
              <a:srgbClr val="8B85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8193024" y="5193792"/>
            <a:ext cx="786384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8B85FF"/>
                </a:solidFill>
                <a:latin typeface="Consolas"/>
              </a:rPr>
              <a:t>Supabase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9089136" y="5193792"/>
            <a:ext cx="1019556" cy="365760"/>
          </a:xfrm>
          <a:prstGeom prst="roundRect">
            <a:avLst>
              <a:gd name="adj" fmla="val 50000"/>
            </a:avLst>
          </a:prstGeom>
          <a:solidFill>
            <a:srgbClr val="8B85FF">
              <a:alpha val="18000"/>
            </a:srgbClr>
          </a:solidFill>
          <a:ln w="13970">
            <a:solidFill>
              <a:srgbClr val="8B85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9089136" y="5193792"/>
            <a:ext cx="1019556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8B85FF"/>
                </a:solidFill>
                <a:latin typeface="Consolas"/>
              </a:rPr>
              <a:t>Tailwind v4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10218420" y="5193792"/>
            <a:ext cx="475488" cy="365760"/>
          </a:xfrm>
          <a:prstGeom prst="roundRect">
            <a:avLst>
              <a:gd name="adj" fmla="val 50000"/>
            </a:avLst>
          </a:prstGeom>
          <a:solidFill>
            <a:srgbClr val="8B85FF">
              <a:alpha val="18000"/>
            </a:srgbClr>
          </a:solidFill>
          <a:ln w="13970">
            <a:solidFill>
              <a:srgbClr val="8B85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10218420" y="5193792"/>
            <a:ext cx="475488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8B85FF"/>
                </a:solidFill>
                <a:latin typeface="Consolas"/>
              </a:rPr>
              <a:t>GSAP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40080" y="6473952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 spc="100">
                <a:solidFill>
                  <a:srgbClr val="FFFFFF">
                    <a:alpha val="55000"/>
                  </a:srgbClr>
                </a:solidFill>
                <a:latin typeface="Consolas"/>
              </a:rPr>
              <a:t>SIH26207 · AVANCE — SMART EDUCATION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106424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FFFFFF">
                    <a:alpha val="55000"/>
                  </a:srgbClr>
                </a:solidFill>
                <a:latin typeface="Consolas"/>
              </a:rPr>
              <a:t>03 / 06</a:t>
            </a:r>
          </a:p>
        </p:txBody>
      </p:sp>
    </p:spTree>
  </p:cSld>
  <p:transition spd="med">
    <p:wipe dir="r"/>
  </p:transition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BGPlate"/>
          <p:cNvSpPr/>
          <p:nvPr/>
        </p:nvSpPr>
        <p:spPr>
          <a:xfrm>
            <a:off x="-45720" y="-45720"/>
            <a:ext cx="12280392" cy="6949440"/>
          </a:xfrm>
          <a:prstGeom prst="rect">
            <a:avLst/>
          </a:prstGeom>
          <a:gradFill rotWithShape="1">
            <a:gsLst>
              <a:gs pos="0">
                <a:srgbClr val="0A0B10"/>
              </a:gs>
              <a:gs pos="100000">
                <a:srgbClr val="3B1F7A"/>
              </a:gs>
            </a:gsLst>
            <a:lin scaled="0" ang="153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GlowOrb"/>
          <p:cNvSpPr/>
          <p:nvPr/>
        </p:nvSpPr>
        <p:spPr>
          <a:xfrm>
            <a:off x="7863840" y="-2011680"/>
            <a:ext cx="5852160" cy="5852160"/>
          </a:xfrm>
          <a:prstGeom prst="ellipse">
            <a:avLst/>
          </a:prstGeom>
          <a:solidFill>
            <a:srgbClr val="B497CF">
              <a:alpha val="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GlowOrb_1"/>
          <p:cNvSpPr/>
          <p:nvPr/>
        </p:nvSpPr>
        <p:spPr>
          <a:xfrm>
            <a:off x="8800185" y="-1075334"/>
            <a:ext cx="3979468" cy="3979468"/>
          </a:xfrm>
          <a:prstGeom prst="ellipse">
            <a:avLst/>
          </a:prstGeom>
          <a:solidFill>
            <a:srgbClr val="B497CF">
              <a:alpha val="13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GlowOrb_2"/>
          <p:cNvSpPr/>
          <p:nvPr/>
        </p:nvSpPr>
        <p:spPr>
          <a:xfrm>
            <a:off x="9619488" y="-256032"/>
            <a:ext cx="2340864" cy="2340864"/>
          </a:xfrm>
          <a:prstGeom prst="ellipse">
            <a:avLst/>
          </a:prstGeom>
          <a:solidFill>
            <a:srgbClr val="B497CF">
              <a:alpha val="2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GlowOrb_3"/>
          <p:cNvSpPr/>
          <p:nvPr/>
        </p:nvSpPr>
        <p:spPr>
          <a:xfrm>
            <a:off x="10263225" y="387705"/>
            <a:ext cx="1053388" cy="1053388"/>
          </a:xfrm>
          <a:prstGeom prst="ellipse">
            <a:avLst/>
          </a:prstGeom>
          <a:solidFill>
            <a:srgbClr val="B497CF">
              <a:alpha val="2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384048"/>
            <a:ext cx="9601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 spc="220">
                <a:solidFill>
                  <a:srgbClr val="B497CF"/>
                </a:solidFill>
                <a:latin typeface="Consolas"/>
              </a:rPr>
              <a:t>04   FEASIBILITY &amp; VIABILITY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" y="685800"/>
            <a:ext cx="1088136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300" b="1" i="0">
                <a:solidFill>
                  <a:srgbClr val="FFFFFF"/>
                </a:solidFill>
                <a:latin typeface="Segoe UI"/>
              </a:rPr>
              <a:t>A running app, not a concept slide.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1298448"/>
            <a:ext cx="1005840" cy="41148"/>
          </a:xfrm>
          <a:prstGeom prst="rect">
            <a:avLst/>
          </a:prstGeom>
          <a:ln>
            <a:noFill/>
          </a:ln>
          <a:effectLst/>
          <a:gradFill rotWithShape="1">
            <a:gsLst>
              <a:gs pos="0">
                <a:srgbClr val="B497CF"/>
              </a:gs>
              <a:gs pos="100000">
                <a:srgbClr val="B497CF">
                  <a:alpha val="0"/>
                </a:srgbClr>
              </a:gs>
            </a:gsLst>
            <a:lin ang="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40080" y="2057400"/>
            <a:ext cx="5394960" cy="4069080"/>
          </a:xfrm>
          <a:prstGeom prst="roundRect">
            <a:avLst>
              <a:gd name="adj" fmla="val 6000"/>
            </a:avLst>
          </a:prstGeom>
          <a:solidFill>
            <a:srgbClr val="12141C">
              <a:alpha val="72000"/>
            </a:srgbClr>
          </a:solidFill>
          <a:ln w="12700">
            <a:solidFill>
              <a:srgbClr val="2326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8680" y="2212848"/>
            <a:ext cx="4937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1" i="0" spc="110">
                <a:solidFill>
                  <a:srgbClr val="34D399"/>
                </a:solidFill>
                <a:latin typeface="Consolas"/>
              </a:rPr>
              <a:t>ALREADY BUILT, END-TO-END</a:t>
            </a:r>
          </a:p>
        </p:txBody>
      </p:sp>
      <p:sp>
        <p:nvSpPr>
          <p:cNvPr id="12" name="Oval 11"/>
          <p:cNvSpPr/>
          <p:nvPr/>
        </p:nvSpPr>
        <p:spPr>
          <a:xfrm>
            <a:off x="868680" y="2596896"/>
            <a:ext cx="201168" cy="201168"/>
          </a:xfrm>
          <a:prstGeom prst="ellipse">
            <a:avLst/>
          </a:prstGeom>
          <a:solidFill>
            <a:srgbClr val="34D399">
              <a:alpha val="22000"/>
            </a:srgbClr>
          </a:solidFill>
          <a:ln w="15240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" y="2564891"/>
            <a:ext cx="201168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34D399"/>
                </a:solidFill>
                <a:latin typeface="Segoe UI"/>
              </a:rPr>
              <a:t>✓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07008" y="2578608"/>
            <a:ext cx="47091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200" b="0" i="0">
                <a:solidFill>
                  <a:srgbClr val="FFFFFF">
                    <a:alpha val="88000"/>
                  </a:srgbClr>
                </a:solidFill>
                <a:latin typeface="Segoe UI"/>
              </a:rPr>
              <a:t>Auth &amp; organisation / group roles</a:t>
            </a:r>
          </a:p>
        </p:txBody>
      </p:sp>
      <p:sp>
        <p:nvSpPr>
          <p:cNvPr id="15" name="Oval 14"/>
          <p:cNvSpPr/>
          <p:nvPr/>
        </p:nvSpPr>
        <p:spPr>
          <a:xfrm>
            <a:off x="868680" y="2994660"/>
            <a:ext cx="201168" cy="201168"/>
          </a:xfrm>
          <a:prstGeom prst="ellipse">
            <a:avLst/>
          </a:prstGeom>
          <a:solidFill>
            <a:srgbClr val="34D399">
              <a:alpha val="22000"/>
            </a:srgbClr>
          </a:solidFill>
          <a:ln w="15240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68680" y="2962656"/>
            <a:ext cx="201168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34D399"/>
                </a:solidFill>
                <a:latin typeface="Segoe UI"/>
              </a:rPr>
              <a:t>✓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07008" y="2976372"/>
            <a:ext cx="47091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200" b="0" i="0">
                <a:solidFill>
                  <a:srgbClr val="FFFFFF">
                    <a:alpha val="88000"/>
                  </a:srgbClr>
                </a:solidFill>
                <a:latin typeface="Segoe UI"/>
              </a:rPr>
              <a:t>AI Quest Builder (PDF, DOCX, text)</a:t>
            </a:r>
          </a:p>
        </p:txBody>
      </p:sp>
      <p:sp>
        <p:nvSpPr>
          <p:cNvPr id="18" name="Oval 17"/>
          <p:cNvSpPr/>
          <p:nvPr/>
        </p:nvSpPr>
        <p:spPr>
          <a:xfrm>
            <a:off x="868680" y="3392424"/>
            <a:ext cx="201168" cy="201168"/>
          </a:xfrm>
          <a:prstGeom prst="ellipse">
            <a:avLst/>
          </a:prstGeom>
          <a:solidFill>
            <a:srgbClr val="34D399">
              <a:alpha val="22000"/>
            </a:srgbClr>
          </a:solidFill>
          <a:ln w="15240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68680" y="3360420"/>
            <a:ext cx="201168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34D399"/>
                </a:solidFill>
                <a:latin typeface="Segoe UI"/>
              </a:rPr>
              <a:t>✓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207008" y="3374136"/>
            <a:ext cx="47091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200" b="0" i="0">
                <a:solidFill>
                  <a:srgbClr val="FFFFFF">
                    <a:alpha val="88000"/>
                  </a:srgbClr>
                </a:solidFill>
                <a:latin typeface="Segoe UI"/>
              </a:rPr>
              <a:t>Linear checkpoints with locked / current / done states</a:t>
            </a:r>
          </a:p>
        </p:txBody>
      </p:sp>
      <p:sp>
        <p:nvSpPr>
          <p:cNvPr id="21" name="Oval 20"/>
          <p:cNvSpPr/>
          <p:nvPr/>
        </p:nvSpPr>
        <p:spPr>
          <a:xfrm>
            <a:off x="868680" y="3790187"/>
            <a:ext cx="201168" cy="201168"/>
          </a:xfrm>
          <a:prstGeom prst="ellipse">
            <a:avLst/>
          </a:prstGeom>
          <a:solidFill>
            <a:srgbClr val="34D399">
              <a:alpha val="22000"/>
            </a:srgbClr>
          </a:solidFill>
          <a:ln w="15240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68680" y="3758184"/>
            <a:ext cx="201168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34D399"/>
                </a:solidFill>
                <a:latin typeface="Segoe UI"/>
              </a:rPr>
              <a:t>✓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207008" y="3771900"/>
            <a:ext cx="47091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200" b="0" i="0">
                <a:solidFill>
                  <a:srgbClr val="FFFFFF">
                    <a:alpha val="88000"/>
                  </a:srgbClr>
                </a:solidFill>
                <a:latin typeface="Segoe UI"/>
              </a:rPr>
              <a:t>PDF submission — automatic or host-approval verification</a:t>
            </a:r>
          </a:p>
        </p:txBody>
      </p:sp>
      <p:sp>
        <p:nvSpPr>
          <p:cNvPr id="24" name="Oval 23"/>
          <p:cNvSpPr/>
          <p:nvPr/>
        </p:nvSpPr>
        <p:spPr>
          <a:xfrm>
            <a:off x="868680" y="4187951"/>
            <a:ext cx="201168" cy="201168"/>
          </a:xfrm>
          <a:prstGeom prst="ellipse">
            <a:avLst/>
          </a:prstGeom>
          <a:solidFill>
            <a:srgbClr val="34D399">
              <a:alpha val="22000"/>
            </a:srgbClr>
          </a:solidFill>
          <a:ln w="15240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68680" y="4155948"/>
            <a:ext cx="201168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34D399"/>
                </a:solidFill>
                <a:latin typeface="Segoe UI"/>
              </a:rPr>
              <a:t>✓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207008" y="4169663"/>
            <a:ext cx="47091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200" b="0" i="0">
                <a:solidFill>
                  <a:srgbClr val="FFFFFF">
                    <a:alpha val="88000"/>
                  </a:srgbClr>
                </a:solidFill>
                <a:latin typeface="Segoe UI"/>
              </a:rPr>
              <a:t>Command Center: risk + checkpoint bottleneck analytics</a:t>
            </a:r>
          </a:p>
        </p:txBody>
      </p:sp>
      <p:sp>
        <p:nvSpPr>
          <p:cNvPr id="27" name="Oval 26"/>
          <p:cNvSpPr/>
          <p:nvPr/>
        </p:nvSpPr>
        <p:spPr>
          <a:xfrm>
            <a:off x="868680" y="4585715"/>
            <a:ext cx="201168" cy="201168"/>
          </a:xfrm>
          <a:prstGeom prst="ellipse">
            <a:avLst/>
          </a:prstGeom>
          <a:solidFill>
            <a:srgbClr val="34D399">
              <a:alpha val="22000"/>
            </a:srgbClr>
          </a:solidFill>
          <a:ln w="15240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68680" y="4553712"/>
            <a:ext cx="201168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34D399"/>
                </a:solidFill>
                <a:latin typeface="Segoe UI"/>
              </a:rPr>
              <a:t>✓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207008" y="4567427"/>
            <a:ext cx="47091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200" b="0" i="0">
                <a:solidFill>
                  <a:srgbClr val="FFFFFF">
                    <a:alpha val="88000"/>
                  </a:srgbClr>
                </a:solidFill>
                <a:latin typeface="Segoe UI"/>
              </a:rPr>
              <a:t>XP, streaks, group leaderboard</a:t>
            </a:r>
          </a:p>
        </p:txBody>
      </p:sp>
      <p:sp>
        <p:nvSpPr>
          <p:cNvPr id="30" name="Oval 29"/>
          <p:cNvSpPr/>
          <p:nvPr/>
        </p:nvSpPr>
        <p:spPr>
          <a:xfrm>
            <a:off x="868680" y="4983479"/>
            <a:ext cx="201168" cy="201168"/>
          </a:xfrm>
          <a:prstGeom prst="ellipse">
            <a:avLst/>
          </a:prstGeom>
          <a:solidFill>
            <a:srgbClr val="34D399">
              <a:alpha val="22000"/>
            </a:srgbClr>
          </a:solidFill>
          <a:ln w="15240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68680" y="4951475"/>
            <a:ext cx="201168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34D399"/>
                </a:solidFill>
                <a:latin typeface="Segoe UI"/>
              </a:rPr>
              <a:t>✓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207008" y="4965191"/>
            <a:ext cx="47091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200" b="0" i="0">
                <a:solidFill>
                  <a:srgbClr val="FFFFFF">
                    <a:alpha val="88000"/>
                  </a:srgbClr>
                </a:solidFill>
                <a:latin typeface="Segoe UI"/>
              </a:rPr>
              <a:t>Personal habit tracker</a:t>
            </a:r>
          </a:p>
        </p:txBody>
      </p:sp>
      <p:sp>
        <p:nvSpPr>
          <p:cNvPr id="33" name="Oval 32"/>
          <p:cNvSpPr/>
          <p:nvPr/>
        </p:nvSpPr>
        <p:spPr>
          <a:xfrm>
            <a:off x="868680" y="5381243"/>
            <a:ext cx="201168" cy="201168"/>
          </a:xfrm>
          <a:prstGeom prst="ellipse">
            <a:avLst/>
          </a:prstGeom>
          <a:solidFill>
            <a:srgbClr val="34D399">
              <a:alpha val="22000"/>
            </a:srgbClr>
          </a:solidFill>
          <a:ln w="15240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68680" y="5349239"/>
            <a:ext cx="201168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34D399"/>
                </a:solidFill>
                <a:latin typeface="Segoe UI"/>
              </a:rPr>
              <a:t>✓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07008" y="5362955"/>
            <a:ext cx="47091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200" b="0" i="0">
                <a:solidFill>
                  <a:srgbClr val="FFFFFF">
                    <a:alpha val="88000"/>
                  </a:srgbClr>
                </a:solidFill>
                <a:latin typeface="Segoe UI"/>
              </a:rPr>
              <a:t>In-app notifications &amp; audit logging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6172200" y="2057400"/>
            <a:ext cx="5394960" cy="4069080"/>
          </a:xfrm>
          <a:prstGeom prst="roundRect">
            <a:avLst>
              <a:gd name="adj" fmla="val 6000"/>
            </a:avLst>
          </a:prstGeom>
          <a:solidFill>
            <a:srgbClr val="12141C">
              <a:alpha val="72000"/>
            </a:srgbClr>
          </a:solidFill>
          <a:ln w="12700">
            <a:solidFill>
              <a:srgbClr val="2326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400800" y="2212848"/>
            <a:ext cx="4937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1" i="0" spc="110">
                <a:solidFill>
                  <a:srgbClr val="FBBF24"/>
                </a:solidFill>
                <a:latin typeface="Consolas"/>
              </a:rPr>
              <a:t>RISK → MITIGATION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400800" y="2578608"/>
            <a:ext cx="4937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Segoe UI"/>
              </a:rPr>
              <a:t>Lecturer adoption friction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400800" y="2852927"/>
            <a:ext cx="493776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0" i="0">
                <a:solidFill>
                  <a:srgbClr val="FFFFFF">
                    <a:alpha val="65000"/>
                  </a:srgbClr>
                </a:solidFill>
                <a:latin typeface="Segoe UI"/>
              </a:rPr>
              <a:t>Manual fallback always works; join-code onboarding; zero AI dependency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400800" y="3474720"/>
            <a:ext cx="4937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Segoe UI"/>
              </a:rPr>
              <a:t>AI mis-generates checkpoints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400800" y="3749039"/>
            <a:ext cx="493776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0" i="0">
                <a:solidFill>
                  <a:srgbClr val="FFFFFF">
                    <a:alpha val="65000"/>
                  </a:srgbClr>
                </a:solidFill>
                <a:latin typeface="Segoe UI"/>
              </a:rPr>
              <a:t>Mandatory human approval; every field editable; clearly AI-labeled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400800" y="4370831"/>
            <a:ext cx="4937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Segoe UI"/>
              </a:rPr>
              <a:t>Scaling to large classes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400800" y="4645151"/>
            <a:ext cx="493776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0" i="0">
                <a:solidFill>
                  <a:srgbClr val="FFFFFF">
                    <a:alpha val="65000"/>
                  </a:srgbClr>
                </a:solidFill>
                <a:latin typeface="Segoe UI"/>
              </a:rPr>
              <a:t>Aggregate stats from objective platform signals, not device monitoring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400800" y="5266944"/>
            <a:ext cx="4937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Segoe UI"/>
              </a:rPr>
              <a:t>Student data privacy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400800" y="5541264"/>
            <a:ext cx="493776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0" i="0">
                <a:solidFill>
                  <a:srgbClr val="FFFFFF">
                    <a:alpha val="65000"/>
                  </a:srgbClr>
                </a:solidFill>
                <a:latin typeface="Segoe UI"/>
              </a:rPr>
              <a:t>Server-side authorization on every action; auditable Fair Play changes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40080" y="6473952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 spc="100">
                <a:solidFill>
                  <a:srgbClr val="FFFFFF">
                    <a:alpha val="55000"/>
                  </a:srgbClr>
                </a:solidFill>
                <a:latin typeface="Consolas"/>
              </a:rPr>
              <a:t>SIH26207 · AVANCE — SMART EDUCATION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106424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FFFFFF">
                    <a:alpha val="55000"/>
                  </a:srgbClr>
                </a:solidFill>
                <a:latin typeface="Consolas"/>
              </a:rPr>
              <a:t>04 / 06</a:t>
            </a:r>
          </a:p>
        </p:txBody>
      </p:sp>
    </p:spTree>
  </p:cSld>
  <p:transition spd="med">
    <p:cover dir="u"/>
  </p:transition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BGPlate"/>
          <p:cNvSpPr/>
          <p:nvPr/>
        </p:nvSpPr>
        <p:spPr>
          <a:xfrm>
            <a:off x="-45720" y="-45720"/>
            <a:ext cx="12280392" cy="6949440"/>
          </a:xfrm>
          <a:prstGeom prst="rect">
            <a:avLst/>
          </a:prstGeom>
          <a:gradFill rotWithShape="1">
            <a:gsLst>
              <a:gs pos="0">
                <a:srgbClr val="0A0B10"/>
              </a:gs>
              <a:gs pos="100000">
                <a:srgbClr val="3B1F7A"/>
              </a:gs>
            </a:gsLst>
            <a:lin scaled="0" ang="144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GlowOrb"/>
          <p:cNvSpPr/>
          <p:nvPr/>
        </p:nvSpPr>
        <p:spPr>
          <a:xfrm>
            <a:off x="2377439" y="-3474720"/>
            <a:ext cx="7315200" cy="7315200"/>
          </a:xfrm>
          <a:prstGeom prst="ellipse">
            <a:avLst/>
          </a:prstGeom>
          <a:solidFill>
            <a:srgbClr val="B497CF">
              <a:alpha val="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GlowOrb_1"/>
          <p:cNvSpPr/>
          <p:nvPr/>
        </p:nvSpPr>
        <p:spPr>
          <a:xfrm>
            <a:off x="3547871" y="-2304288"/>
            <a:ext cx="4974336" cy="4974336"/>
          </a:xfrm>
          <a:prstGeom prst="ellipse">
            <a:avLst/>
          </a:prstGeom>
          <a:solidFill>
            <a:srgbClr val="B497CF">
              <a:alpha val="13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GlowOrb_2"/>
          <p:cNvSpPr/>
          <p:nvPr/>
        </p:nvSpPr>
        <p:spPr>
          <a:xfrm>
            <a:off x="4572000" y="-1280160"/>
            <a:ext cx="2926080" cy="2926080"/>
          </a:xfrm>
          <a:prstGeom prst="ellipse">
            <a:avLst/>
          </a:prstGeom>
          <a:solidFill>
            <a:srgbClr val="B497CF">
              <a:alpha val="2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GlowOrb_3"/>
          <p:cNvSpPr/>
          <p:nvPr/>
        </p:nvSpPr>
        <p:spPr>
          <a:xfrm>
            <a:off x="5376672" y="-475488"/>
            <a:ext cx="1316736" cy="1316736"/>
          </a:xfrm>
          <a:prstGeom prst="ellipse">
            <a:avLst/>
          </a:prstGeom>
          <a:solidFill>
            <a:srgbClr val="B497CF">
              <a:alpha val="2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384048"/>
            <a:ext cx="9601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 spc="220">
                <a:solidFill>
                  <a:srgbClr val="B497CF"/>
                </a:solidFill>
                <a:latin typeface="Consolas"/>
              </a:rPr>
              <a:t>05   IMPACT &amp; BENEFITS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" y="685800"/>
            <a:ext cx="1088136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300" b="1" i="0">
                <a:solidFill>
                  <a:srgbClr val="FFFFFF"/>
                </a:solidFill>
                <a:latin typeface="Segoe UI"/>
              </a:rPr>
              <a:t>Three days early beats too late.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1298448"/>
            <a:ext cx="1005840" cy="41148"/>
          </a:xfrm>
          <a:prstGeom prst="rect">
            <a:avLst/>
          </a:prstGeom>
          <a:ln>
            <a:noFill/>
          </a:ln>
          <a:effectLst/>
          <a:gradFill rotWithShape="1">
            <a:gsLst>
              <a:gs pos="0">
                <a:srgbClr val="B497CF"/>
              </a:gs>
              <a:gs pos="100000">
                <a:srgbClr val="B497CF">
                  <a:alpha val="0"/>
                </a:srgbClr>
              </a:gs>
            </a:gsLst>
            <a:lin ang="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40080" y="2057400"/>
            <a:ext cx="5212080" cy="2514600"/>
          </a:xfrm>
          <a:prstGeom prst="roundRect">
            <a:avLst>
              <a:gd name="adj" fmla="val 6000"/>
            </a:avLst>
          </a:prstGeom>
          <a:solidFill>
            <a:srgbClr val="12141C">
              <a:alpha val="55000"/>
            </a:srgbClr>
          </a:solidFill>
          <a:ln w="12700">
            <a:solidFill>
              <a:srgbClr val="2326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8680" y="2212848"/>
            <a:ext cx="47548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 spc="140">
                <a:solidFill>
                  <a:srgbClr val="FFFFFF">
                    <a:alpha val="55000"/>
                  </a:srgbClr>
                </a:solidFill>
                <a:latin typeface="Consolas"/>
              </a:rPr>
              <a:t>TODAY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8680" y="2606040"/>
            <a:ext cx="475488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 i="0">
                <a:solidFill>
                  <a:srgbClr val="FFFFFF">
                    <a:alpha val="82000"/>
                  </a:srgbClr>
                </a:solidFill>
                <a:latin typeface="Segoe UI"/>
              </a:rPr>
              <a:t>Lecturer finds out a student is behind only when the final submission is already late.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68680" y="3566160"/>
            <a:ext cx="4480560" cy="146304"/>
          </a:xfrm>
          <a:prstGeom prst="roundRect">
            <a:avLst>
              <a:gd name="adj" fmla="val 50000"/>
            </a:avLst>
          </a:prstGeom>
          <a:solidFill>
            <a:srgbClr val="232634">
              <a:alpha val="6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868680" y="3566160"/>
            <a:ext cx="806500" cy="146304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B497CF"/>
              </a:gs>
              <a:gs pos="100000">
                <a:srgbClr val="8B85FF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" y="3794760"/>
            <a:ext cx="44805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 i="1">
                <a:solidFill>
                  <a:srgbClr val="FFFFFF">
                    <a:alpha val="55000"/>
                  </a:srgbClr>
                </a:solidFill>
                <a:latin typeface="Segoe UI"/>
              </a:rPr>
              <a:t>Discovered on Day 14 of 14 — too late to help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080760" y="2057400"/>
            <a:ext cx="5486400" cy="2514600"/>
          </a:xfrm>
          <a:prstGeom prst="roundRect">
            <a:avLst>
              <a:gd name="adj" fmla="val 6000"/>
            </a:avLst>
          </a:prstGeom>
          <a:solidFill>
            <a:srgbClr val="1C1A3A">
              <a:alpha val="65000"/>
            </a:srgbClr>
          </a:solidFill>
          <a:ln w="12700">
            <a:solidFill>
              <a:srgbClr val="B497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309360" y="2212848"/>
            <a:ext cx="502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 spc="140">
                <a:solidFill>
                  <a:srgbClr val="B497CF"/>
                </a:solidFill>
                <a:latin typeface="Consolas"/>
              </a:rPr>
              <a:t>WITH AVANCE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09360" y="2606040"/>
            <a:ext cx="50292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350" b="1" i="0">
                <a:solidFill>
                  <a:srgbClr val="FFFFFF"/>
                </a:solidFill>
                <a:latin typeface="Segoe UI"/>
              </a:rPr>
              <a:t>Command Center flags the Testing checkpoint stalled at 43%.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09360" y="3246120"/>
            <a:ext cx="155448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FFFFFF">
                    <a:alpha val="65000"/>
                  </a:srgbClr>
                </a:solidFill>
                <a:latin typeface="Consolas"/>
              </a:rPr>
              <a:t>Testing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909560" y="3273551"/>
            <a:ext cx="2880360" cy="128016"/>
          </a:xfrm>
          <a:prstGeom prst="roundRect">
            <a:avLst>
              <a:gd name="adj" fmla="val 50000"/>
            </a:avLst>
          </a:prstGeom>
          <a:solidFill>
            <a:srgbClr val="232634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7909560" y="3273551"/>
            <a:ext cx="1238554" cy="128016"/>
          </a:xfrm>
          <a:prstGeom prst="roundRect">
            <a:avLst>
              <a:gd name="adj" fmla="val 50000"/>
            </a:avLst>
          </a:prstGeom>
          <a:solidFill>
            <a:srgbClr val="FBBF24">
              <a:alpha val="9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789920" y="3236976"/>
            <a:ext cx="4572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FBBF24"/>
                </a:solidFill>
                <a:latin typeface="Consolas"/>
              </a:rPr>
              <a:t>43% ⚠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09360" y="3657600"/>
            <a:ext cx="4937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1" i="1">
                <a:solidFill>
                  <a:srgbClr val="34D399"/>
                </a:solidFill>
                <a:latin typeface="Segoe UI"/>
              </a:rPr>
              <a:t>Flagged on Day 11 of 14 — 3 days to intervene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0080" y="4846320"/>
            <a:ext cx="3429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110">
                <a:solidFill>
                  <a:srgbClr val="B497CF"/>
                </a:solidFill>
                <a:latin typeface="Consolas"/>
              </a:rPr>
              <a:t>STUDENTS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" y="5138928"/>
            <a:ext cx="34290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 i="0">
                <a:solidFill>
                  <a:srgbClr val="FFFFFF">
                    <a:alpha val="82000"/>
                  </a:srgbClr>
                </a:solidFill>
                <a:latin typeface="Segoe UI"/>
              </a:rPr>
              <a:t>Always know what's next — less deadline panic, motivation without humiliation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251960" y="4846320"/>
            <a:ext cx="3429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110">
                <a:solidFill>
                  <a:srgbClr val="B497CF"/>
                </a:solidFill>
                <a:latin typeface="Consolas"/>
              </a:rPr>
              <a:t>INSTITUTIONS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251960" y="5138928"/>
            <a:ext cx="34290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 i="0">
                <a:solidFill>
                  <a:srgbClr val="FFFFFF">
                    <a:alpha val="82000"/>
                  </a:srgbClr>
                </a:solidFill>
                <a:latin typeface="Segoe UI"/>
              </a:rPr>
              <a:t>See who needs attention before the deadline, not after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863840" y="4846320"/>
            <a:ext cx="3429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110">
                <a:solidFill>
                  <a:srgbClr val="B497CF"/>
                </a:solidFill>
                <a:latin typeface="Consolas"/>
              </a:rPr>
              <a:t>SCALABILITY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863840" y="5138928"/>
            <a:ext cx="34290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 i="0">
                <a:solidFill>
                  <a:srgbClr val="FFFFFF">
                    <a:alpha val="82000"/>
                  </a:srgbClr>
                </a:solidFill>
                <a:latin typeface="Segoe UI"/>
              </a:rPr>
              <a:t>Org → Group → Project → Checkpoint model reuses for clubs, teams, future workplaces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0080" y="6473952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 spc="100">
                <a:solidFill>
                  <a:srgbClr val="FFFFFF">
                    <a:alpha val="55000"/>
                  </a:srgbClr>
                </a:solidFill>
                <a:latin typeface="Consolas"/>
              </a:rPr>
              <a:t>SIH26207 · AVANCE — SMART EDUCATION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106424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FFFFFF">
                    <a:alpha val="55000"/>
                  </a:srgbClr>
                </a:solidFill>
                <a:latin typeface="Consolas"/>
              </a:rPr>
              <a:t>05 / 06</a:t>
            </a:r>
          </a:p>
        </p:txBody>
      </p:sp>
    </p:spTree>
  </p:cSld>
  <p:transition spd="slow">
    <p:fade thruBlk="0"/>
  </p:transition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BGPlate"/>
          <p:cNvSpPr/>
          <p:nvPr/>
        </p:nvSpPr>
        <p:spPr>
          <a:xfrm>
            <a:off x="-45720" y="-45720"/>
            <a:ext cx="12280392" cy="6949440"/>
          </a:xfrm>
          <a:prstGeom prst="rect">
            <a:avLst/>
          </a:prstGeom>
          <a:gradFill rotWithShape="1">
            <a:gsLst>
              <a:gs pos="0">
                <a:srgbClr val="0A0B10"/>
              </a:gs>
              <a:gs pos="100000">
                <a:srgbClr val="3B1F7A"/>
              </a:gs>
            </a:gsLst>
            <a:lin scaled="0" ang="150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GlowOrb"/>
          <p:cNvSpPr/>
          <p:nvPr/>
        </p:nvSpPr>
        <p:spPr>
          <a:xfrm>
            <a:off x="7680959" y="3383280"/>
            <a:ext cx="5852160" cy="5852160"/>
          </a:xfrm>
          <a:prstGeom prst="ellipse">
            <a:avLst/>
          </a:prstGeom>
          <a:solidFill>
            <a:srgbClr val="B497CF">
              <a:alpha val="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GlowOrb_1"/>
          <p:cNvSpPr/>
          <p:nvPr/>
        </p:nvSpPr>
        <p:spPr>
          <a:xfrm>
            <a:off x="8617305" y="4319625"/>
            <a:ext cx="3979468" cy="3979468"/>
          </a:xfrm>
          <a:prstGeom prst="ellipse">
            <a:avLst/>
          </a:prstGeom>
          <a:solidFill>
            <a:srgbClr val="B497CF">
              <a:alpha val="13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GlowOrb_2"/>
          <p:cNvSpPr/>
          <p:nvPr/>
        </p:nvSpPr>
        <p:spPr>
          <a:xfrm>
            <a:off x="9436608" y="5138928"/>
            <a:ext cx="2340864" cy="2340864"/>
          </a:xfrm>
          <a:prstGeom prst="ellipse">
            <a:avLst/>
          </a:prstGeom>
          <a:solidFill>
            <a:srgbClr val="B497CF">
              <a:alpha val="2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GlowOrb_3"/>
          <p:cNvSpPr/>
          <p:nvPr/>
        </p:nvSpPr>
        <p:spPr>
          <a:xfrm>
            <a:off x="10080345" y="5782665"/>
            <a:ext cx="1053388" cy="1053388"/>
          </a:xfrm>
          <a:prstGeom prst="ellipse">
            <a:avLst/>
          </a:prstGeom>
          <a:solidFill>
            <a:srgbClr val="B497CF">
              <a:alpha val="2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384048"/>
            <a:ext cx="9601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 spc="220">
                <a:solidFill>
                  <a:srgbClr val="B497CF"/>
                </a:solidFill>
                <a:latin typeface="Consolas"/>
              </a:rPr>
              <a:t>06   RESEARCH &amp; REFERENCES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" y="685800"/>
            <a:ext cx="1088136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300" b="1" i="0">
                <a:solidFill>
                  <a:srgbClr val="FFFFFF"/>
                </a:solidFill>
                <a:latin typeface="Segoe UI"/>
              </a:rPr>
              <a:t>Grounded in research, not guesswork.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1298448"/>
            <a:ext cx="1005840" cy="41148"/>
          </a:xfrm>
          <a:prstGeom prst="rect">
            <a:avLst/>
          </a:prstGeom>
          <a:ln>
            <a:noFill/>
          </a:ln>
          <a:effectLst/>
          <a:gradFill rotWithShape="1">
            <a:gsLst>
              <a:gs pos="0">
                <a:srgbClr val="B497CF"/>
              </a:gs>
              <a:gs pos="100000">
                <a:srgbClr val="B497CF">
                  <a:alpha val="0"/>
                </a:srgbClr>
              </a:gs>
            </a:gsLst>
            <a:lin ang="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40080" y="1920240"/>
            <a:ext cx="347472" cy="347472"/>
          </a:xfrm>
          <a:prstGeom prst="roundRect">
            <a:avLst>
              <a:gd name="adj" fmla="val 50000"/>
            </a:avLst>
          </a:prstGeom>
          <a:solidFill>
            <a:srgbClr val="1C1A3A">
              <a:alpha val="90000"/>
            </a:srgbClr>
          </a:solidFill>
          <a:ln w="12700">
            <a:solidFill>
              <a:srgbClr val="B497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1920240"/>
            <a:ext cx="347472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onsolas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70432" y="1929384"/>
            <a:ext cx="996696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 i="0">
                <a:solidFill>
                  <a:srgbClr val="FFFFFF">
                    <a:alpha val="85000"/>
                  </a:srgbClr>
                </a:solidFill>
                <a:latin typeface="Segoe UI"/>
              </a:rPr>
              <a:t>National Education Policy 2020 — flexible, learner-centred, technology-enabled education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2670048"/>
            <a:ext cx="347472" cy="347472"/>
          </a:xfrm>
          <a:prstGeom prst="roundRect">
            <a:avLst>
              <a:gd name="adj" fmla="val 50000"/>
            </a:avLst>
          </a:prstGeom>
          <a:solidFill>
            <a:srgbClr val="1C1A3A">
              <a:alpha val="90000"/>
            </a:srgbClr>
          </a:solidFill>
          <a:ln w="12700">
            <a:solidFill>
              <a:srgbClr val="B497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" y="2670048"/>
            <a:ext cx="347472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onsolas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70432" y="2679191"/>
            <a:ext cx="996696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 i="0">
                <a:solidFill>
                  <a:srgbClr val="FFFFFF">
                    <a:alpha val="85000"/>
                  </a:srgbClr>
                </a:solidFill>
                <a:latin typeface="Segoe UI"/>
              </a:rPr>
              <a:t>Learning-analytics / early-warning-system research on formative, in-progress assessment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3419856"/>
            <a:ext cx="347472" cy="347472"/>
          </a:xfrm>
          <a:prstGeom prst="roundRect">
            <a:avLst>
              <a:gd name="adj" fmla="val 50000"/>
            </a:avLst>
          </a:prstGeom>
          <a:solidFill>
            <a:srgbClr val="1C1A3A">
              <a:alpha val="90000"/>
            </a:srgbClr>
          </a:solidFill>
          <a:ln w="12700">
            <a:solidFill>
              <a:srgbClr val="B497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080" y="3419856"/>
            <a:ext cx="347472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onsolas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70432" y="3428999"/>
            <a:ext cx="996696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 i="0">
                <a:solidFill>
                  <a:srgbClr val="FFFFFF">
                    <a:alpha val="85000"/>
                  </a:srgbClr>
                </a:solidFill>
                <a:latin typeface="Segoe UI"/>
              </a:rPr>
              <a:t>Gamification-in-education research on engagement effects of streaks &amp; leaderboards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40080" y="4169663"/>
            <a:ext cx="347472" cy="347472"/>
          </a:xfrm>
          <a:prstGeom prst="roundRect">
            <a:avLst>
              <a:gd name="adj" fmla="val 50000"/>
            </a:avLst>
          </a:prstGeom>
          <a:solidFill>
            <a:srgbClr val="1C1A3A">
              <a:alpha val="90000"/>
            </a:srgbClr>
          </a:solidFill>
          <a:ln w="12700">
            <a:solidFill>
              <a:srgbClr val="B497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0080" y="4169663"/>
            <a:ext cx="347472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onsolas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70432" y="4178807"/>
            <a:ext cx="996696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 i="0">
                <a:solidFill>
                  <a:srgbClr val="FFFFFF">
                    <a:alpha val="85000"/>
                  </a:srgbClr>
                </a:solidFill>
                <a:latin typeface="Segoe UI"/>
              </a:rPr>
              <a:t>Positioning: Classroom/Moodle track endpoints only; Duolingo-style apps gamify without institutional visibility — Avance sits in the gap.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40080" y="4983480"/>
            <a:ext cx="10881360" cy="777240"/>
          </a:xfrm>
          <a:prstGeom prst="roundRect">
            <a:avLst>
              <a:gd name="adj" fmla="val 6000"/>
            </a:avLst>
          </a:prstGeom>
          <a:solidFill>
            <a:srgbClr val="1C1A3A">
              <a:alpha val="70000"/>
            </a:srgbClr>
          </a:solidFill>
          <a:ln w="12700">
            <a:solidFill>
              <a:srgbClr val="B497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68680" y="5074920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110">
                <a:solidFill>
                  <a:srgbClr val="B497CF"/>
                </a:solidFill>
                <a:latin typeface="Consolas"/>
              </a:rPr>
              <a:t>🧠 BEHAVIOURAL DESIGN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68680" y="5349240"/>
            <a:ext cx="1042416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150" b="1" i="0">
                <a:solidFill>
                  <a:srgbClr val="FFFFFF"/>
                </a:solidFill>
                <a:latin typeface="Segoe UI"/>
              </a:rPr>
              <a:t>Streaks, small linear checkpoints and immediate visible progress are deliberately modeled on James Clear's Atomic Habits — identity-based habits, “don't break the chain,” and immediate reward loops.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" y="5897880"/>
            <a:ext cx="7315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8B85FF"/>
                </a:solidFill>
                <a:latin typeface="Consolas"/>
              </a:rPr>
              <a:t>[ QR: live demo ]   Live demo: [your-deployment-url]   ·   Repo: [github link]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412480" y="5897880"/>
            <a:ext cx="31089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2000" b="1" i="0">
                <a:solidFill>
                  <a:srgbClr val="FFFFFF"/>
                </a:solidFill>
                <a:latin typeface="Segoe UI"/>
              </a:rPr>
              <a:t>Thank you.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0080" y="6473952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 spc="100">
                <a:solidFill>
                  <a:srgbClr val="FFFFFF">
                    <a:alpha val="55000"/>
                  </a:srgbClr>
                </a:solidFill>
                <a:latin typeface="Consolas"/>
              </a:rPr>
              <a:t>SIH26207 · AVANCE — SMART EDUCATION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06424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FFFFFF">
                    <a:alpha val="55000"/>
                  </a:srgbClr>
                </a:solidFill>
                <a:latin typeface="Consolas"/>
              </a:rPr>
              <a:t>06 / 06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0A0B10"/>
      </a:dk1>
      <a:lt1>
        <a:srgbClr val="FFFFFF"/>
      </a:lt1>
      <a:dk2>
        <a:srgbClr val="1C1A3A"/>
      </a:dk2>
      <a:lt2>
        <a:srgbClr val="12141C"/>
      </a:lt2>
      <a:accent1>
        <a:srgbClr val="8B85FF"/>
      </a:accent1>
      <a:accent2>
        <a:srgbClr val="B497CF"/>
      </a:accent2>
      <a:accent3>
        <a:srgbClr val="34D399"/>
      </a:accent3>
      <a:accent4>
        <a:srgbClr val="FBBF24"/>
      </a:accent4>
      <a:accent5>
        <a:srgbClr val="F87171"/>
      </a:accent5>
      <a:accent6>
        <a:srgbClr val="3B1F7A"/>
      </a:accent6>
      <a:hlink>
        <a:srgbClr val="8B85FF"/>
      </a:hlink>
      <a:folHlink>
        <a:srgbClr val="B497CF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