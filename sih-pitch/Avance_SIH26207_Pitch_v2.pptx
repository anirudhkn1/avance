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9751F2F-10D0-08EA-1EEE-8B5B10956549}" name="Anirudh K N" initials="AK" userId="1d65839a870f991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0" y="1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Plate"/>
          <p:cNvSpPr/>
          <p:nvPr/>
        </p:nvSpPr>
        <p:spPr>
          <a:xfrm>
            <a:off x="0" y="-91440"/>
            <a:ext cx="12280392" cy="6949440"/>
          </a:xfrm>
          <a:prstGeom prst="rect">
            <a:avLst/>
          </a:prstGeom>
          <a:gradFill rotWithShape="1">
            <a:gsLst>
              <a:gs pos="0">
                <a:srgbClr val="0A0B10"/>
              </a:gs>
              <a:gs pos="100000">
                <a:srgbClr val="3B1F7A"/>
              </a:gs>
            </a:gsLst>
            <a:lin ang="14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GlowOrb"/>
          <p:cNvSpPr/>
          <p:nvPr/>
        </p:nvSpPr>
        <p:spPr>
          <a:xfrm>
            <a:off x="6400800" y="-2286000"/>
            <a:ext cx="6583680" cy="6583680"/>
          </a:xfrm>
          <a:prstGeom prst="ellipse">
            <a:avLst/>
          </a:prstGeom>
          <a:solidFill>
            <a:srgbClr val="B497C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GlowOrb_1"/>
          <p:cNvSpPr/>
          <p:nvPr/>
        </p:nvSpPr>
        <p:spPr>
          <a:xfrm>
            <a:off x="7454188" y="-1232611"/>
            <a:ext cx="4476902" cy="4476902"/>
          </a:xfrm>
          <a:prstGeom prst="ellipse">
            <a:avLst/>
          </a:prstGeom>
          <a:solidFill>
            <a:srgbClr val="B497C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GlowOrb_2"/>
          <p:cNvSpPr/>
          <p:nvPr/>
        </p:nvSpPr>
        <p:spPr>
          <a:xfrm>
            <a:off x="8375904" y="-310896"/>
            <a:ext cx="2633472" cy="2633472"/>
          </a:xfrm>
          <a:prstGeom prst="ellipse">
            <a:avLst/>
          </a:prstGeom>
          <a:solidFill>
            <a:srgbClr val="B497C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GlowOrb_3"/>
          <p:cNvSpPr/>
          <p:nvPr/>
        </p:nvSpPr>
        <p:spPr>
          <a:xfrm>
            <a:off x="9100108" y="413308"/>
            <a:ext cx="1185062" cy="1185062"/>
          </a:xfrm>
          <a:prstGeom prst="ellipse">
            <a:avLst/>
          </a:prstGeom>
          <a:solidFill>
            <a:srgbClr val="B497C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GlowOrb2"/>
          <p:cNvSpPr/>
          <p:nvPr/>
        </p:nvSpPr>
        <p:spPr>
          <a:xfrm>
            <a:off x="-548640" y="3657599"/>
            <a:ext cx="4754880" cy="4754880"/>
          </a:xfrm>
          <a:prstGeom prst="ellipse">
            <a:avLst/>
          </a:prstGeom>
          <a:solidFill>
            <a:srgbClr val="8B85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GlowOrb2_1"/>
          <p:cNvSpPr/>
          <p:nvPr/>
        </p:nvSpPr>
        <p:spPr>
          <a:xfrm>
            <a:off x="326441" y="4447642"/>
            <a:ext cx="3233318" cy="3233318"/>
          </a:xfrm>
          <a:prstGeom prst="ellipse">
            <a:avLst/>
          </a:prstGeom>
          <a:solidFill>
            <a:srgbClr val="8B85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GlowOrb2_2"/>
          <p:cNvSpPr/>
          <p:nvPr/>
        </p:nvSpPr>
        <p:spPr>
          <a:xfrm>
            <a:off x="877824" y="5084064"/>
            <a:ext cx="1901952" cy="1901952"/>
          </a:xfrm>
          <a:prstGeom prst="ellipse">
            <a:avLst/>
          </a:prstGeom>
          <a:solidFill>
            <a:srgbClr val="8B85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GlowOrb2_3"/>
          <p:cNvSpPr/>
          <p:nvPr/>
        </p:nvSpPr>
        <p:spPr>
          <a:xfrm>
            <a:off x="1400860" y="5607100"/>
            <a:ext cx="855878" cy="855878"/>
          </a:xfrm>
          <a:prstGeom prst="ellipse">
            <a:avLst/>
          </a:prstGeom>
          <a:solidFill>
            <a:srgbClr val="8B85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5486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B497CF">
              <a:alpha val="16000"/>
            </a:srgbClr>
          </a:solidFill>
          <a:ln w="13970">
            <a:solidFill>
              <a:srgbClr val="B49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4864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B497CF"/>
                </a:solidFill>
                <a:latin typeface="Consolas"/>
              </a:rPr>
              <a:t>SIH26207 ·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200">
                <a:solidFill>
                  <a:srgbClr val="FFFFFF">
                    <a:alpha val="60000"/>
                  </a:srgbClr>
                </a:solidFill>
                <a:latin typeface="Consolas"/>
              </a:rPr>
              <a:t>AICTE · MIC – STUDENT 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1874519"/>
            <a:ext cx="10881360" cy="1415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0" b="1" i="0" dirty="0">
                <a:solidFill>
                  <a:srgbClr val="FFFFFF"/>
                </a:solidFill>
                <a:latin typeface="Poor Richard" panose="02080502050505020702" pitchFamily="18" charset="0"/>
              </a:rPr>
              <a:t>AVANCE</a:t>
            </a:r>
            <a:endParaRPr lang="en-IN" sz="9200" b="1" i="0" dirty="0">
              <a:solidFill>
                <a:srgbClr val="FFFFFF"/>
              </a:solidFill>
              <a:latin typeface="Poor Richard" panose="02080502050505020702" pitchFamily="18" charset="0"/>
              <a:ea typeface="PMingLiU-ExtB" panose="02020500000000000000" pitchFamily="18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456432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8B85FF"/>
                </a:solidFill>
                <a:latin typeface="Segoe UI"/>
              </a:rPr>
              <a:t>A game layer for real-world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98755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1" dirty="0">
                <a:solidFill>
                  <a:srgbClr val="FFFFFF">
                    <a:alpha val="62000"/>
                  </a:srgbClr>
                </a:solidFill>
                <a:latin typeface="Segoe UI"/>
              </a:rPr>
              <a:t>“</a:t>
            </a:r>
            <a:r>
              <a:rPr sz="1500" b="0" i="1" dirty="0">
                <a:solidFill>
                  <a:srgbClr val="FFFFFF">
                    <a:alpha val="62000"/>
                  </a:srgbClr>
                </a:solidFill>
                <a:latin typeface="Segoe UI"/>
              </a:rPr>
              <a:t>Smart Education — a concept that describes learning in the digital age; helping learners learn more efficiently, effectively, flexibly and comfortably.”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74920"/>
            <a:ext cx="10881360" cy="10972"/>
          </a:xfrm>
          <a:prstGeom prst="rect">
            <a:avLst/>
          </a:prstGeom>
          <a:solidFill>
            <a:srgbClr val="232634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B497CF"/>
                </a:solidFill>
                <a:latin typeface="Consolas"/>
              </a:rPr>
              <a:t>TEAM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26060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000" b="0" i="0" dirty="0">
                <a:solidFill>
                  <a:srgbClr val="FFFFFF">
                    <a:alpha val="90000"/>
                  </a:srgbClr>
                </a:solidFill>
                <a:latin typeface="Consolas" panose="020B0609020204030204" pitchFamily="49" charset="0"/>
              </a:rPr>
              <a:t>Avance</a:t>
            </a:r>
            <a:endParaRPr sz="2000" b="0" i="0" dirty="0">
              <a:solidFill>
                <a:srgbClr val="FFFFFF">
                  <a:alpha val="90000"/>
                </a:srgbClr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37560" y="534924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B497CF"/>
                </a:solidFill>
                <a:latin typeface="Consolas"/>
              </a:rPr>
              <a:t>TEAM LEADER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3220" y="5645102"/>
            <a:ext cx="26060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500" dirty="0">
                <a:solidFill>
                  <a:srgbClr val="FFFFFF">
                    <a:alpha val="90000"/>
                  </a:srgbClr>
                </a:solidFill>
                <a:latin typeface="Consolas" panose="020B0609020204030204" pitchFamily="49" charset="0"/>
              </a:rPr>
              <a:t>K N Anirudh</a:t>
            </a:r>
          </a:p>
          <a:p>
            <a:pPr algn="l"/>
            <a:r>
              <a:rPr sz="1500" b="0" i="0" dirty="0">
                <a:solidFill>
                  <a:srgbClr val="FFFFFF">
                    <a:alpha val="90000"/>
                  </a:srgbClr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673716"/>
            <a:ext cx="5370576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buAutoNum type="arabicPeriod"/>
            </a:pPr>
            <a:r>
              <a:rPr lang="en-IN" sz="1200" b="1" spc="160" dirty="0">
                <a:solidFill>
                  <a:schemeClr val="bg1">
                    <a:lumMod val="95000"/>
                  </a:schemeClr>
                </a:solidFill>
                <a:latin typeface="Consolas"/>
              </a:rPr>
              <a:t> </a:t>
            </a:r>
            <a:r>
              <a:rPr lang="en-IN" sz="1200" b="1" spc="160" dirty="0" err="1">
                <a:solidFill>
                  <a:schemeClr val="bg1">
                    <a:lumMod val="95000"/>
                  </a:schemeClr>
                </a:solidFill>
                <a:latin typeface="Consolas"/>
              </a:rPr>
              <a:t>Daivaansh</a:t>
            </a:r>
            <a:r>
              <a:rPr lang="en-IN" sz="1200" b="1" spc="160" dirty="0">
                <a:solidFill>
                  <a:schemeClr val="bg1">
                    <a:lumMod val="95000"/>
                  </a:schemeClr>
                </a:solidFill>
                <a:latin typeface="Consolas"/>
              </a:rPr>
              <a:t> Chandok   </a:t>
            </a:r>
          </a:p>
          <a:p>
            <a:pPr marL="228600" indent="-228600">
              <a:buAutoNum type="arabicPeriod"/>
            </a:pPr>
            <a:r>
              <a:rPr lang="en-IN" sz="1200" b="1" spc="160" dirty="0">
                <a:solidFill>
                  <a:schemeClr val="bg1">
                    <a:lumMod val="95000"/>
                  </a:schemeClr>
                </a:solidFill>
                <a:latin typeface="Consolas"/>
              </a:rPr>
              <a:t> Akash Sharma</a:t>
            </a:r>
          </a:p>
          <a:p>
            <a:pPr marL="228600" indent="-228600">
              <a:buAutoNum type="arabicPeriod"/>
            </a:pPr>
            <a:r>
              <a:rPr lang="en-IN" sz="1200" b="1" spc="160" dirty="0">
                <a:solidFill>
                  <a:schemeClr val="bg1">
                    <a:lumMod val="95000"/>
                  </a:schemeClr>
                </a:solidFill>
                <a:latin typeface="Consolas"/>
              </a:rPr>
              <a:t>Divya Shree N </a:t>
            </a:r>
          </a:p>
          <a:p>
            <a:pPr algn="l"/>
            <a:r>
              <a:rPr lang="en-IN" sz="1200" b="1" spc="160" dirty="0">
                <a:solidFill>
                  <a:schemeClr val="bg1">
                    <a:lumMod val="95000"/>
                  </a:schemeClr>
                </a:solidFill>
                <a:latin typeface="Consolas"/>
              </a:rPr>
              <a:t>4. </a:t>
            </a:r>
            <a:r>
              <a:rPr lang="en-IN" sz="1200" b="1" i="0" spc="160" dirty="0">
                <a:solidFill>
                  <a:schemeClr val="bg1">
                    <a:lumMod val="95000"/>
                  </a:schemeClr>
                </a:solidFill>
                <a:latin typeface="Consolas"/>
              </a:rPr>
              <a:t>Keshav </a:t>
            </a:r>
          </a:p>
          <a:p>
            <a:pPr algn="l"/>
            <a:r>
              <a:rPr lang="en-IN" sz="1200" b="1" spc="160" dirty="0">
                <a:solidFill>
                  <a:schemeClr val="bg1">
                    <a:lumMod val="95000"/>
                  </a:schemeClr>
                </a:solidFill>
                <a:latin typeface="Consolas"/>
              </a:rPr>
              <a:t>5. Vedant</a:t>
            </a:r>
            <a:r>
              <a:rPr lang="en-IN" sz="1200" b="1" i="0" spc="160" dirty="0">
                <a:solidFill>
                  <a:schemeClr val="bg1">
                    <a:lumMod val="95000"/>
                  </a:schemeClr>
                </a:solidFill>
                <a:latin typeface="Consolas"/>
              </a:rPr>
              <a:t> </a:t>
            </a:r>
            <a:r>
              <a:rPr lang="en-IN" sz="1200" b="1" spc="160" dirty="0">
                <a:solidFill>
                  <a:schemeClr val="bg1">
                    <a:lumMod val="95000"/>
                  </a:schemeClr>
                </a:solidFill>
                <a:latin typeface="Consolas"/>
              </a:rPr>
              <a:t> </a:t>
            </a:r>
            <a:endParaRPr sz="1200" b="1" i="0" spc="160" dirty="0">
              <a:solidFill>
                <a:schemeClr val="bg1">
                  <a:lumMod val="95000"/>
                </a:schemeClr>
              </a:solidFill>
              <a:latin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51168" y="5270548"/>
            <a:ext cx="299283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300" b="0" i="0" dirty="0">
                <a:solidFill>
                  <a:schemeClr val="accent2">
                    <a:lumMod val="75000"/>
                    <a:alpha val="90000"/>
                  </a:schemeClr>
                </a:solidFill>
                <a:latin typeface="Segoe UI"/>
              </a:rPr>
              <a:t>  Team Members</a:t>
            </a:r>
            <a:endParaRPr sz="1300" b="0" i="0" dirty="0">
              <a:solidFill>
                <a:schemeClr val="accent2">
                  <a:lumMod val="75000"/>
                  <a:alpha val="90000"/>
                </a:schemeClr>
              </a:solidFill>
              <a:latin typeface="Segoe U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Plate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gradFill rotWithShape="1">
            <a:gsLst>
              <a:gs pos="0">
                <a:srgbClr val="0A0B10"/>
              </a:gs>
              <a:gs pos="100000">
                <a:srgbClr val="3B1F7A"/>
              </a:gs>
            </a:gsLst>
            <a:lin ang="15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GlowOrb"/>
          <p:cNvSpPr/>
          <p:nvPr/>
        </p:nvSpPr>
        <p:spPr>
          <a:xfrm>
            <a:off x="8229600" y="3566160"/>
            <a:ext cx="5486400" cy="5486400"/>
          </a:xfrm>
          <a:prstGeom prst="ellipse">
            <a:avLst/>
          </a:prstGeom>
          <a:solidFill>
            <a:srgbClr val="B497C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GlowOrb_1"/>
          <p:cNvSpPr/>
          <p:nvPr/>
        </p:nvSpPr>
        <p:spPr>
          <a:xfrm>
            <a:off x="9107424" y="4443984"/>
            <a:ext cx="3730752" cy="3730752"/>
          </a:xfrm>
          <a:prstGeom prst="ellipse">
            <a:avLst/>
          </a:prstGeom>
          <a:solidFill>
            <a:srgbClr val="B497C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GlowOrb_2"/>
          <p:cNvSpPr/>
          <p:nvPr/>
        </p:nvSpPr>
        <p:spPr>
          <a:xfrm>
            <a:off x="9875520" y="5212080"/>
            <a:ext cx="2194560" cy="2194560"/>
          </a:xfrm>
          <a:prstGeom prst="ellipse">
            <a:avLst/>
          </a:prstGeom>
          <a:solidFill>
            <a:srgbClr val="B497C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GlowOrb_3"/>
          <p:cNvSpPr/>
          <p:nvPr/>
        </p:nvSpPr>
        <p:spPr>
          <a:xfrm>
            <a:off x="10479024" y="5815584"/>
            <a:ext cx="987552" cy="987552"/>
          </a:xfrm>
          <a:prstGeom prst="ellipse">
            <a:avLst/>
          </a:prstGeom>
          <a:solidFill>
            <a:srgbClr val="B497C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B497CF"/>
                </a:solidFill>
                <a:latin typeface="Consolas"/>
              </a:rPr>
              <a:t>02   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8580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Poor Richard" panose="02080502050505020702" pitchFamily="18" charset="0"/>
              </a:rPr>
              <a:t>See it before the deadline does.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24228"/>
            <a:ext cx="5029200" cy="727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FFFFFF">
                    <a:alpha val="70000"/>
                  </a:srgbClr>
                </a:solidFill>
                <a:latin typeface="Consolas" panose="020B0609020204030204" pitchFamily="49" charset="0"/>
              </a:rPr>
              <a:t>Digital learning tools track content delivery — not follow-through. Institutions learn a student is behind only when the deadline already has.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24912"/>
            <a:ext cx="5029200" cy="749808"/>
          </a:xfrm>
          <a:prstGeom prst="roundRect">
            <a:avLst>
              <a:gd name="adj" fmla="val 6000"/>
            </a:avLst>
          </a:prstGeom>
          <a:solidFill>
            <a:srgbClr val="1C1A3A">
              <a:alpha val="70000"/>
            </a:srgbClr>
          </a:solidFill>
          <a:ln w="12700">
            <a:solidFill>
              <a:srgbClr val="B49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45720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1">
                <a:solidFill>
                  <a:srgbClr val="FFFFFF"/>
                </a:solidFill>
                <a:latin typeface="Segoe UI"/>
              </a:rPr>
              <a:t>“Not a to-do list with XP — a progress-visibility system with a motivation layer.”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2432304" cy="1207008"/>
          </a:xfrm>
          <a:prstGeom prst="roundRect">
            <a:avLst>
              <a:gd name="adj" fmla="val 6000"/>
            </a:avLst>
          </a:prstGeom>
          <a:solidFill>
            <a:srgbClr val="12141C">
              <a:alpha val="65000"/>
            </a:srgbClr>
          </a:solidFill>
          <a:ln w="12700">
            <a:solidFill>
              <a:srgbClr val="23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739896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B497CF"/>
                </a:solidFill>
                <a:latin typeface="Consolas"/>
              </a:rPr>
              <a:t>PERSONALIZED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032504"/>
            <a:ext cx="206654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>
                    <a:alpha val="80000"/>
                  </a:srgbClr>
                </a:solidFill>
                <a:latin typeface="Segoe UI"/>
              </a:rPr>
              <a:t>AI Quest Builder turns each assignment into a per-student checkpoint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6976" y="3611880"/>
            <a:ext cx="2432304" cy="1207008"/>
          </a:xfrm>
          <a:prstGeom prst="roundRect">
            <a:avLst>
              <a:gd name="adj" fmla="val 6000"/>
            </a:avLst>
          </a:prstGeom>
          <a:solidFill>
            <a:srgbClr val="12141C">
              <a:alpha val="65000"/>
            </a:srgbClr>
          </a:solidFill>
          <a:ln w="12700">
            <a:solidFill>
              <a:srgbClr val="23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19856" y="3739896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B497CF"/>
                </a:solidFill>
                <a:latin typeface="Consolas"/>
              </a:rPr>
              <a:t>GAMIFIED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4032504"/>
            <a:ext cx="206654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>
                    <a:alpha val="80000"/>
                  </a:srgbClr>
                </a:solidFill>
                <a:latin typeface="Segoe UI"/>
              </a:rPr>
              <a:t>XP, streaks and a group leaderboard wrapped around real checkpoints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46904"/>
            <a:ext cx="2432304" cy="1207008"/>
          </a:xfrm>
          <a:prstGeom prst="roundRect">
            <a:avLst>
              <a:gd name="adj" fmla="val 6000"/>
            </a:avLst>
          </a:prstGeom>
          <a:solidFill>
            <a:srgbClr val="12141C">
              <a:alpha val="65000"/>
            </a:srgbClr>
          </a:solidFill>
          <a:ln w="12700">
            <a:solidFill>
              <a:srgbClr val="23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507492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B497CF"/>
                </a:solidFill>
                <a:latin typeface="Consolas"/>
              </a:rPr>
              <a:t>DATA-DRIVEN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367528"/>
            <a:ext cx="206654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>
                    <a:alpha val="80000"/>
                  </a:srgbClr>
                </a:solidFill>
                <a:latin typeface="Segoe UI"/>
              </a:rPr>
              <a:t>Command Center: on-track / at-risk / critical + bottleneck analytics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36976" y="4946904"/>
            <a:ext cx="2432304" cy="1207008"/>
          </a:xfrm>
          <a:prstGeom prst="roundRect">
            <a:avLst>
              <a:gd name="adj" fmla="val 6000"/>
            </a:avLst>
          </a:prstGeom>
          <a:solidFill>
            <a:srgbClr val="12141C">
              <a:alpha val="65000"/>
            </a:srgbClr>
          </a:solidFill>
          <a:ln w="12700">
            <a:solidFill>
              <a:srgbClr val="23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19856" y="507492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B497CF"/>
                </a:solidFill>
                <a:latin typeface="Consolas"/>
              </a:rPr>
              <a:t>ACCESSIBLE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856" y="5367528"/>
            <a:ext cx="206654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>
                    <a:alpha val="80000"/>
                  </a:srgbClr>
                </a:solidFill>
                <a:latin typeface="Segoe UI"/>
              </a:rPr>
              <a:t>Big assignments become small linear steps — no confusing skill trees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2011680"/>
            <a:ext cx="5577840" cy="4160520"/>
          </a:xfrm>
          <a:prstGeom prst="roundRect">
            <a:avLst>
              <a:gd name="adj" fmla="val 6000"/>
            </a:avLst>
          </a:prstGeom>
          <a:solidFill>
            <a:srgbClr val="12141C">
              <a:alpha val="78000"/>
            </a:srgbClr>
          </a:solidFill>
          <a:ln w="12700">
            <a:solidFill>
              <a:srgbClr val="23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215798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FFFF">
                    <a:alpha val="55000"/>
                  </a:srgbClr>
                </a:solidFill>
                <a:latin typeface="Consolas"/>
              </a:rPr>
              <a:t>LIVE ON THE PLATFORM (swap for your screenshot)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487168"/>
            <a:ext cx="5120640" cy="1691640"/>
          </a:xfrm>
          <a:prstGeom prst="roundRect">
            <a:avLst>
              <a:gd name="adj" fmla="val 6000"/>
            </a:avLst>
          </a:prstGeom>
          <a:solidFill>
            <a:srgbClr val="1C1A3A">
              <a:alpha val="85000"/>
            </a:srgbClr>
          </a:solidFill>
          <a:ln w="12700">
            <a:solidFill>
              <a:srgbClr val="23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260604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40">
                <a:solidFill>
                  <a:srgbClr val="B497CF"/>
                </a:solidFill>
                <a:latin typeface="Consolas"/>
              </a:rPr>
              <a:t>CURRENT 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3464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Build the Banking System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218688"/>
            <a:ext cx="3566160" cy="146304"/>
          </a:xfrm>
          <a:prstGeom prst="roundRect">
            <a:avLst>
              <a:gd name="adj" fmla="val 50000"/>
            </a:avLst>
          </a:prstGeom>
          <a:solidFill>
            <a:srgbClr val="23263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00800" y="3218688"/>
            <a:ext cx="2139696" cy="1463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497CF"/>
              </a:gs>
              <a:gs pos="100000">
                <a:srgbClr val="8B85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0" y="3163824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60%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493008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>
                    <a:alpha val="65000"/>
                  </a:srgbClr>
                </a:solidFill>
                <a:latin typeface="Segoe UI"/>
              </a:rPr>
              <a:t>Checkpoint: 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49300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FFFFFF">
                    <a:alpha val="65000"/>
                  </a:srgbClr>
                </a:solidFill>
                <a:latin typeface="Segoe UI"/>
              </a:rPr>
              <a:t>Deadline: 3d 14h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749039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>
                    <a:alpha val="65000"/>
                  </a:srgbClr>
                </a:solidFill>
                <a:latin typeface="Segoe UI"/>
              </a:rPr>
              <a:t>Next: Documentation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749039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8B85FF"/>
                </a:solidFill>
                <a:latin typeface="Segoe UI"/>
              </a:rPr>
              <a:t>Rank #12 / 58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315968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1C1A3A">
              <a:alpha val="85000"/>
            </a:srgbClr>
          </a:solidFill>
          <a:ln w="12700">
            <a:solidFill>
              <a:srgbClr val="23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443484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40">
                <a:solidFill>
                  <a:srgbClr val="B497CF"/>
                </a:solidFill>
                <a:latin typeface="Consolas"/>
              </a:rPr>
              <a:t>CLASS COMMAND CENTER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700016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2000"/>
            </a:srgbClr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4700016"/>
            <a:ext cx="1417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Consolas"/>
              </a:rPr>
              <a:t>41 ON TRACK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09560" y="470001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BBF24">
              <a:alpha val="22000"/>
            </a:srgbClr>
          </a:solidFill>
          <a:ln w="1397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09560" y="470001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BBF24"/>
                </a:solidFill>
                <a:latin typeface="Consolas"/>
              </a:rPr>
              <a:t>13 AT RISK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72600" y="470001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87171">
              <a:alpha val="22000"/>
            </a:srgbClr>
          </a:solidFill>
          <a:ln w="1397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372600" y="4700016"/>
            <a:ext cx="1325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87171"/>
                </a:solidFill>
                <a:latin typeface="Consolas"/>
              </a:rPr>
              <a:t>6 CRITICAL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19379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>
                    <a:alpha val="65000"/>
                  </a:srgbClr>
                </a:solidFill>
                <a:latin typeface="Consolas"/>
              </a:rPr>
              <a:t>Requirements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01000" y="5221224"/>
            <a:ext cx="2651760" cy="128016"/>
          </a:xfrm>
          <a:prstGeom prst="roundRect">
            <a:avLst>
              <a:gd name="adj" fmla="val 50000"/>
            </a:avLst>
          </a:prstGeom>
          <a:solidFill>
            <a:srgbClr val="23263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001000" y="5221224"/>
            <a:ext cx="2545689" cy="128016"/>
          </a:xfrm>
          <a:prstGeom prst="roundRect">
            <a:avLst>
              <a:gd name="adj" fmla="val 50000"/>
            </a:avLst>
          </a:prstGeom>
          <a:solidFill>
            <a:srgbClr val="8B85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652760" y="518464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onsolas"/>
              </a:rPr>
              <a:t>96%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44068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>
                    <a:alpha val="65000"/>
                  </a:srgbClr>
                </a:solidFill>
                <a:latin typeface="Consolas"/>
              </a:rPr>
              <a:t>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01000" y="5468112"/>
            <a:ext cx="2651760" cy="128016"/>
          </a:xfrm>
          <a:prstGeom prst="roundRect">
            <a:avLst>
              <a:gd name="adj" fmla="val 50000"/>
            </a:avLst>
          </a:prstGeom>
          <a:solidFill>
            <a:srgbClr val="23263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001000" y="5468112"/>
            <a:ext cx="1140256" cy="128016"/>
          </a:xfrm>
          <a:prstGeom prst="roundRect">
            <a:avLst>
              <a:gd name="adj" fmla="val 50000"/>
            </a:avLst>
          </a:prstGeom>
          <a:solidFill>
            <a:srgbClr val="FBBF24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652760" y="5431536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FBBF24"/>
                </a:solidFill>
                <a:latin typeface="Consolas"/>
              </a:rPr>
              <a:t>43% 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FFFFFF">
                    <a:alpha val="55000"/>
                  </a:srgbClr>
                </a:solidFill>
                <a:latin typeface="Consolas"/>
              </a:rPr>
              <a:t>SIH26207 · AVANCE — SMART EDUCATION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>
                    <a:alpha val="55000"/>
                  </a:srgbClr>
                </a:solidFill>
                <a:latin typeface="Consolas"/>
              </a:rPr>
              <a:t>02 / 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Plate"/>
          <p:cNvSpPr/>
          <p:nvPr/>
        </p:nvSpPr>
        <p:spPr>
          <a:xfrm>
            <a:off x="32004" y="-27432"/>
            <a:ext cx="12280392" cy="6949440"/>
          </a:xfrm>
          <a:prstGeom prst="rect">
            <a:avLst/>
          </a:prstGeom>
          <a:gradFill rotWithShape="1">
            <a:gsLst>
              <a:gs pos="0">
                <a:srgbClr val="0A0B10"/>
              </a:gs>
              <a:gs pos="100000">
                <a:srgbClr val="3B1F7A"/>
              </a:gs>
            </a:gsLst>
            <a:lin ang="15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GlowOrb"/>
          <p:cNvSpPr/>
          <p:nvPr/>
        </p:nvSpPr>
        <p:spPr>
          <a:xfrm>
            <a:off x="-2011680" y="3383280"/>
            <a:ext cx="5852160" cy="5852160"/>
          </a:xfrm>
          <a:prstGeom prst="ellipse">
            <a:avLst/>
          </a:prstGeom>
          <a:solidFill>
            <a:srgbClr val="B497C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GlowOrb_1"/>
          <p:cNvSpPr/>
          <p:nvPr/>
        </p:nvSpPr>
        <p:spPr>
          <a:xfrm>
            <a:off x="-1075334" y="4319625"/>
            <a:ext cx="3979468" cy="3979468"/>
          </a:xfrm>
          <a:prstGeom prst="ellipse">
            <a:avLst/>
          </a:prstGeom>
          <a:solidFill>
            <a:srgbClr val="B497C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GlowOrb_2"/>
          <p:cNvSpPr/>
          <p:nvPr/>
        </p:nvSpPr>
        <p:spPr>
          <a:xfrm>
            <a:off x="-256032" y="5138928"/>
            <a:ext cx="2340864" cy="2340864"/>
          </a:xfrm>
          <a:prstGeom prst="ellipse">
            <a:avLst/>
          </a:prstGeom>
          <a:solidFill>
            <a:srgbClr val="B497C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GlowOrb_3"/>
          <p:cNvSpPr/>
          <p:nvPr/>
        </p:nvSpPr>
        <p:spPr>
          <a:xfrm>
            <a:off x="387705" y="5782665"/>
            <a:ext cx="1053388" cy="1053388"/>
          </a:xfrm>
          <a:prstGeom prst="ellipse">
            <a:avLst/>
          </a:prstGeom>
          <a:solidFill>
            <a:srgbClr val="B497C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B497CF"/>
                </a:solidFill>
                <a:latin typeface="Consolas"/>
              </a:rPr>
              <a:t>03   TECHNICAL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"/>
              </a:rPr>
              <a:t>From assignment to early warning.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1C1A3A">
              <a:alpha val="75000"/>
            </a:srgbClr>
          </a:solidFill>
          <a:ln w="12700">
            <a:solidFill>
              <a:srgbClr val="B49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1353312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Assignment
Uploaded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148840"/>
            <a:ext cx="256032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B497CF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214884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1C1A3A">
              <a:alpha val="75000"/>
            </a:srgbClr>
          </a:solidFill>
          <a:ln w="12700">
            <a:solidFill>
              <a:srgbClr val="B49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78608" y="2148840"/>
            <a:ext cx="1353312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AI
Decomposition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2148840"/>
            <a:ext cx="256032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B497CF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14884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1C1A3A">
              <a:alpha val="75000"/>
            </a:srgbClr>
          </a:solidFill>
          <a:ln w="12700">
            <a:solidFill>
              <a:srgbClr val="B49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07408" y="2148840"/>
            <a:ext cx="1353312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Human
Approval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4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12141C">
              <a:alpha val="75000"/>
            </a:srgbClr>
          </a:solidFill>
          <a:ln w="12700">
            <a:solidFill>
              <a:srgbClr val="B49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3520440"/>
            <a:ext cx="1353312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Student
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3520440"/>
            <a:ext cx="256032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B497CF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352044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12141C">
              <a:alpha val="75000"/>
            </a:srgbClr>
          </a:solidFill>
          <a:ln w="12700">
            <a:solidFill>
              <a:srgbClr val="B49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78608" y="3704617"/>
            <a:ext cx="1353312" cy="5917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IN" sz="1250" b="1" dirty="0">
                <a:solidFill>
                  <a:srgbClr val="FFFFFF"/>
                </a:solidFill>
                <a:latin typeface="Segoe UI"/>
              </a:rPr>
              <a:t>Leaderboard based </a:t>
            </a:r>
            <a:r>
              <a:rPr lang="en-IN" sz="1250" b="1" dirty="0" err="1">
                <a:solidFill>
                  <a:srgbClr val="FFFFFF"/>
                </a:solidFill>
                <a:latin typeface="Segoe UI"/>
              </a:rPr>
              <a:t>competative</a:t>
            </a:r>
            <a:endParaRPr sz="125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41648" y="3520440"/>
            <a:ext cx="256032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B497CF"/>
                </a:solidFill>
                <a:latin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52044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12141C">
              <a:alpha val="75000"/>
            </a:srgbClr>
          </a:solidFill>
          <a:ln w="12700">
            <a:solidFill>
              <a:srgbClr val="B49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07408" y="3520440"/>
            <a:ext cx="1353312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Org
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312724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B497CF"/>
                </a:solidFill>
                <a:latin typeface="Segoe U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0916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12141C">
              <a:alpha val="72000"/>
            </a:srgbClr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84632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FBBF24"/>
                </a:solidFill>
                <a:latin typeface="Consolas"/>
              </a:rPr>
              <a:t>AI SAFETY BY DESIGN</a:t>
            </a:r>
          </a:p>
        </p:txBody>
      </p:sp>
      <p:sp>
        <p:nvSpPr>
          <p:cNvPr id="29" name="Oval 28"/>
          <p:cNvSpPr/>
          <p:nvPr/>
        </p:nvSpPr>
        <p:spPr>
          <a:xfrm>
            <a:off x="868680" y="5234940"/>
            <a:ext cx="73152" cy="73152"/>
          </a:xfrm>
          <a:prstGeom prst="ellipse">
            <a:avLst/>
          </a:prstGeom>
          <a:solidFill>
            <a:srgbClr val="B497C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8136" y="5166360"/>
            <a:ext cx="47183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>
                    <a:alpha val="88000"/>
                  </a:srgbClr>
                </a:solidFill>
                <a:latin typeface="Segoe UI"/>
              </a:rPr>
              <a:t>AI proposes checkpoints — it never auto-publishes them</a:t>
            </a:r>
          </a:p>
        </p:txBody>
      </p:sp>
      <p:sp>
        <p:nvSpPr>
          <p:cNvPr id="31" name="Oval 30"/>
          <p:cNvSpPr/>
          <p:nvPr/>
        </p:nvSpPr>
        <p:spPr>
          <a:xfrm>
            <a:off x="868680" y="5618988"/>
            <a:ext cx="73152" cy="73152"/>
          </a:xfrm>
          <a:prstGeom prst="ellipse">
            <a:avLst/>
          </a:prstGeom>
          <a:solidFill>
            <a:srgbClr val="B497C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88136" y="5550408"/>
            <a:ext cx="47183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>
                    <a:alpha val="88000"/>
                  </a:srgbClr>
                </a:solidFill>
                <a:latin typeface="Segoe UI"/>
              </a:rPr>
              <a:t>Every generated field is human-editable before Approve &amp; Publish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70916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12141C">
              <a:alpha val="72000"/>
            </a:srgbClr>
          </a:solidFill>
          <a:ln w="12700">
            <a:solidFill>
              <a:srgbClr val="23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48463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B497CF"/>
                </a:solidFill>
                <a:latin typeface="Consolas"/>
              </a:rPr>
              <a:t>PRODUCTION STACK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193792"/>
            <a:ext cx="941832" cy="365760"/>
          </a:xfrm>
          <a:prstGeom prst="roundRect">
            <a:avLst>
              <a:gd name="adj" fmla="val 50000"/>
            </a:avLst>
          </a:prstGeom>
          <a:solidFill>
            <a:srgbClr val="8B85FF">
              <a:alpha val="18000"/>
            </a:srgbClr>
          </a:solidFill>
          <a:ln w="13970">
            <a:solidFill>
              <a:srgbClr val="8B8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5193792"/>
            <a:ext cx="9418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8B85FF"/>
                </a:solidFill>
                <a:latin typeface="Consolas"/>
              </a:rPr>
              <a:t>Next.js 16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52360" y="5193792"/>
            <a:ext cx="630936" cy="365760"/>
          </a:xfrm>
          <a:prstGeom prst="roundRect">
            <a:avLst>
              <a:gd name="adj" fmla="val 50000"/>
            </a:avLst>
          </a:prstGeom>
          <a:solidFill>
            <a:srgbClr val="8B85FF">
              <a:alpha val="18000"/>
            </a:srgbClr>
          </a:solidFill>
          <a:ln w="13970">
            <a:solidFill>
              <a:srgbClr val="8B8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52360" y="5193792"/>
            <a:ext cx="6309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8B85FF"/>
                </a:solidFill>
                <a:latin typeface="Consolas"/>
              </a:rPr>
              <a:t>Prisma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93024" y="5193792"/>
            <a:ext cx="786384" cy="365760"/>
          </a:xfrm>
          <a:prstGeom prst="roundRect">
            <a:avLst>
              <a:gd name="adj" fmla="val 50000"/>
            </a:avLst>
          </a:prstGeom>
          <a:solidFill>
            <a:srgbClr val="8B85FF">
              <a:alpha val="18000"/>
            </a:srgbClr>
          </a:solidFill>
          <a:ln w="13970">
            <a:solidFill>
              <a:srgbClr val="8B8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93024" y="5193792"/>
            <a:ext cx="7863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8B85FF"/>
                </a:solidFill>
                <a:latin typeface="Consolas"/>
              </a:rPr>
              <a:t>Supabase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89136" y="5193792"/>
            <a:ext cx="1019556" cy="365760"/>
          </a:xfrm>
          <a:prstGeom prst="roundRect">
            <a:avLst>
              <a:gd name="adj" fmla="val 50000"/>
            </a:avLst>
          </a:prstGeom>
          <a:solidFill>
            <a:srgbClr val="8B85FF">
              <a:alpha val="18000"/>
            </a:srgbClr>
          </a:solidFill>
          <a:ln w="13970">
            <a:solidFill>
              <a:srgbClr val="8B8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89136" y="5193792"/>
            <a:ext cx="10195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8B85FF"/>
                </a:solidFill>
                <a:latin typeface="Consolas"/>
              </a:rPr>
              <a:t>Tailwind v4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18420" y="5193792"/>
            <a:ext cx="475488" cy="365760"/>
          </a:xfrm>
          <a:prstGeom prst="roundRect">
            <a:avLst>
              <a:gd name="adj" fmla="val 50000"/>
            </a:avLst>
          </a:prstGeom>
          <a:solidFill>
            <a:srgbClr val="8B85FF">
              <a:alpha val="18000"/>
            </a:srgbClr>
          </a:solidFill>
          <a:ln w="13970">
            <a:solidFill>
              <a:srgbClr val="8B8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18420" y="519379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8B85FF"/>
                </a:solidFill>
                <a:latin typeface="Consolas"/>
              </a:rPr>
              <a:t>GSAP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FFFFFF">
                    <a:alpha val="55000"/>
                  </a:srgbClr>
                </a:solidFill>
                <a:latin typeface="Consolas"/>
              </a:rPr>
              <a:t>SIH26207 · AVANCE — SMART EDUCATION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>
                    <a:alpha val="55000"/>
                  </a:srgbClr>
                </a:solidFill>
                <a:latin typeface="Consolas"/>
              </a:rPr>
              <a:t>03 / 06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7C06269A-7957-0170-807B-5C48C0700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1339596"/>
            <a:ext cx="5852160" cy="32049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honeycomb/>
        <p:sndAc>
          <p:stSnd>
            <p:snd r:embed="rId2" name="whoosh.wav"/>
          </p:stSnd>
        </p:sndAc>
      </p:transition>
    </mc:Choice>
    <mc:Fallback xmlns="">
      <p:transition spd="slow">
        <p:fade/>
        <p:sndAc>
          <p:stSnd>
            <p:snd r:embed="rId4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Plate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gradFill rotWithShape="1">
            <a:gsLst>
              <a:gs pos="0">
                <a:srgbClr val="0A0B10"/>
              </a:gs>
              <a:gs pos="100000">
                <a:srgbClr val="3B1F7A"/>
              </a:gs>
            </a:gsLst>
            <a:lin ang="153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GlowOrb"/>
          <p:cNvSpPr/>
          <p:nvPr/>
        </p:nvSpPr>
        <p:spPr>
          <a:xfrm>
            <a:off x="7863840" y="-2011680"/>
            <a:ext cx="5852160" cy="5852160"/>
          </a:xfrm>
          <a:prstGeom prst="ellipse">
            <a:avLst/>
          </a:prstGeom>
          <a:solidFill>
            <a:srgbClr val="B497C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GlowOrb_1"/>
          <p:cNvSpPr/>
          <p:nvPr/>
        </p:nvSpPr>
        <p:spPr>
          <a:xfrm>
            <a:off x="8800185" y="-1075334"/>
            <a:ext cx="3979468" cy="3979468"/>
          </a:xfrm>
          <a:prstGeom prst="ellipse">
            <a:avLst/>
          </a:prstGeom>
          <a:solidFill>
            <a:srgbClr val="B497C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GlowOrb_2"/>
          <p:cNvSpPr/>
          <p:nvPr/>
        </p:nvSpPr>
        <p:spPr>
          <a:xfrm>
            <a:off x="9619488" y="-256032"/>
            <a:ext cx="2340864" cy="2340864"/>
          </a:xfrm>
          <a:prstGeom prst="ellipse">
            <a:avLst/>
          </a:prstGeom>
          <a:solidFill>
            <a:srgbClr val="B497C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GlowOrb_3"/>
          <p:cNvSpPr/>
          <p:nvPr/>
        </p:nvSpPr>
        <p:spPr>
          <a:xfrm>
            <a:off x="10263225" y="387705"/>
            <a:ext cx="1053388" cy="1053388"/>
          </a:xfrm>
          <a:prstGeom prst="ellipse">
            <a:avLst/>
          </a:prstGeom>
          <a:solidFill>
            <a:srgbClr val="B497C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B497CF"/>
                </a:solidFill>
                <a:latin typeface="Consolas"/>
              </a:rPr>
              <a:t>04   FEASIBILITY &amp; VIABILITY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"/>
              </a:rPr>
              <a:t>A running app, not a concept slide.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394960" cy="4069080"/>
          </a:xfrm>
          <a:prstGeom prst="roundRect">
            <a:avLst>
              <a:gd name="adj" fmla="val 6000"/>
            </a:avLst>
          </a:prstGeom>
          <a:solidFill>
            <a:srgbClr val="12141C">
              <a:alpha val="72000"/>
            </a:srgbClr>
          </a:solidFill>
          <a:ln w="12700">
            <a:solidFill>
              <a:srgbClr val="23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110">
                <a:solidFill>
                  <a:srgbClr val="34D399"/>
                </a:solidFill>
                <a:latin typeface="Consolas"/>
              </a:rPr>
              <a:t>ALREADY BUILT, END-TO-END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201168" cy="201168"/>
          </a:xfrm>
          <a:prstGeom prst="ellipse">
            <a:avLst/>
          </a:prstGeom>
          <a:solidFill>
            <a:srgbClr val="34D399">
              <a:alpha val="22000"/>
            </a:srgbClr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564891"/>
            <a:ext cx="2011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578608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>
                    <a:alpha val="88000"/>
                  </a:srgbClr>
                </a:solidFill>
                <a:latin typeface="Segoe UI"/>
              </a:rPr>
              <a:t>Auth &amp; organisation / group roles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2994660"/>
            <a:ext cx="201168" cy="201168"/>
          </a:xfrm>
          <a:prstGeom prst="ellipse">
            <a:avLst/>
          </a:prstGeom>
          <a:solidFill>
            <a:srgbClr val="34D399">
              <a:alpha val="22000"/>
            </a:srgbClr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962656"/>
            <a:ext cx="2011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2976372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>
                    <a:alpha val="88000"/>
                  </a:srgbClr>
                </a:solidFill>
                <a:latin typeface="Segoe UI"/>
              </a:rPr>
              <a:t>AI Quest Builder (PDF, DOCX, text)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392424"/>
            <a:ext cx="201168" cy="201168"/>
          </a:xfrm>
          <a:prstGeom prst="ellipse">
            <a:avLst/>
          </a:prstGeom>
          <a:solidFill>
            <a:srgbClr val="34D399">
              <a:alpha val="22000"/>
            </a:srgbClr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360420"/>
            <a:ext cx="2011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374136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>
                    <a:alpha val="88000"/>
                  </a:srgbClr>
                </a:solidFill>
                <a:latin typeface="Segoe UI"/>
              </a:rPr>
              <a:t>Linear checkpoints with locked / current / done states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3790187"/>
            <a:ext cx="201168" cy="201168"/>
          </a:xfrm>
          <a:prstGeom prst="ellipse">
            <a:avLst/>
          </a:prstGeom>
          <a:solidFill>
            <a:srgbClr val="34D399">
              <a:alpha val="22000"/>
            </a:srgbClr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758184"/>
            <a:ext cx="2011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377190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>
                    <a:alpha val="88000"/>
                  </a:srgbClr>
                </a:solidFill>
                <a:latin typeface="Segoe UI"/>
              </a:rPr>
              <a:t>PDF submission — automatic or host-approval verification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187951"/>
            <a:ext cx="201168" cy="201168"/>
          </a:xfrm>
          <a:prstGeom prst="ellipse">
            <a:avLst/>
          </a:prstGeom>
          <a:solidFill>
            <a:srgbClr val="34D399">
              <a:alpha val="22000"/>
            </a:srgbClr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155948"/>
            <a:ext cx="2011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4169663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>
                    <a:alpha val="88000"/>
                  </a:srgbClr>
                </a:solidFill>
                <a:latin typeface="Segoe UI"/>
              </a:rPr>
              <a:t>Command Center: risk + checkpoint bottleneck analytics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4585715"/>
            <a:ext cx="201168" cy="201168"/>
          </a:xfrm>
          <a:prstGeom prst="ellipse">
            <a:avLst/>
          </a:prstGeom>
          <a:solidFill>
            <a:srgbClr val="34D399">
              <a:alpha val="22000"/>
            </a:srgbClr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553712"/>
            <a:ext cx="2011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4567427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>
                    <a:alpha val="88000"/>
                  </a:srgbClr>
                </a:solidFill>
                <a:latin typeface="Segoe UI"/>
              </a:rPr>
              <a:t>XP, streaks, group leaderboard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4983479"/>
            <a:ext cx="201168" cy="201168"/>
          </a:xfrm>
          <a:prstGeom prst="ellipse">
            <a:avLst/>
          </a:prstGeom>
          <a:solidFill>
            <a:srgbClr val="34D399">
              <a:alpha val="22000"/>
            </a:srgbClr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951475"/>
            <a:ext cx="2011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4965191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>
                    <a:alpha val="88000"/>
                  </a:srgbClr>
                </a:solidFill>
                <a:latin typeface="Segoe UI"/>
              </a:rPr>
              <a:t>Personal habit tracker</a:t>
            </a:r>
          </a:p>
        </p:txBody>
      </p:sp>
      <p:sp>
        <p:nvSpPr>
          <p:cNvPr id="33" name="Oval 32"/>
          <p:cNvSpPr/>
          <p:nvPr/>
        </p:nvSpPr>
        <p:spPr>
          <a:xfrm>
            <a:off x="868680" y="5381243"/>
            <a:ext cx="201168" cy="201168"/>
          </a:xfrm>
          <a:prstGeom prst="ellipse">
            <a:avLst/>
          </a:prstGeom>
          <a:solidFill>
            <a:srgbClr val="34D399">
              <a:alpha val="22000"/>
            </a:srgbClr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349239"/>
            <a:ext cx="2011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5362955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>
                    <a:alpha val="88000"/>
                  </a:srgbClr>
                </a:solidFill>
                <a:latin typeface="Segoe UI"/>
              </a:rPr>
              <a:t>In-app notifications &amp; audit logging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2057400"/>
            <a:ext cx="5394960" cy="4069080"/>
          </a:xfrm>
          <a:prstGeom prst="roundRect">
            <a:avLst>
              <a:gd name="adj" fmla="val 6000"/>
            </a:avLst>
          </a:prstGeom>
          <a:solidFill>
            <a:srgbClr val="12141C">
              <a:alpha val="72000"/>
            </a:srgbClr>
          </a:solidFill>
          <a:ln w="12700">
            <a:solidFill>
              <a:srgbClr val="23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22128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110">
                <a:solidFill>
                  <a:srgbClr val="FBBF24"/>
                </a:solidFill>
                <a:latin typeface="Consolas"/>
              </a:rPr>
              <a:t>RISK → MITIGATION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57860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Lecturer adoption friction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852927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>
                    <a:alpha val="65000"/>
                  </a:srgbClr>
                </a:solidFill>
                <a:latin typeface="Segoe UI"/>
              </a:rPr>
              <a:t>Manual fallback always works; join-code onboarding; zero AI dependency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4747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AI mis-generates checkpoints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749039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>
                    <a:alpha val="65000"/>
                  </a:srgbClr>
                </a:solidFill>
                <a:latin typeface="Segoe UI"/>
              </a:rPr>
              <a:t>Mandatory human approval; every field editable; clearly AI-labeled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370831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Scaling to large classes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645151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>
                    <a:alpha val="65000"/>
                  </a:srgbClr>
                </a:solidFill>
                <a:latin typeface="Segoe UI"/>
              </a:rPr>
              <a:t>Aggregate stats from objective platform signals, not device monitoring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26694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Student data privacy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541264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>
                    <a:alpha val="65000"/>
                  </a:srgbClr>
                </a:solidFill>
                <a:latin typeface="Segoe UI"/>
              </a:rPr>
              <a:t>Server-side authorization on every action; auditable Fair Play changes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FFFFFF">
                    <a:alpha val="55000"/>
                  </a:srgbClr>
                </a:solidFill>
                <a:latin typeface="Consolas"/>
              </a:rPr>
              <a:t>SIH26207 · AVANCE — SMART EDUCATION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>
                    <a:alpha val="55000"/>
                  </a:srgbClr>
                </a:solidFill>
                <a:latin typeface="Consolas"/>
              </a:rPr>
              <a:t>04 / 06</a:t>
            </a:r>
          </a:p>
        </p:txBody>
      </p:sp>
    </p:spTree>
  </p:cSld>
  <p:clrMapOvr>
    <a:masterClrMapping/>
  </p:clrMapOvr>
  <p:transition spd="med">
    <p:cover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Plate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gradFill rotWithShape="1">
            <a:gsLst>
              <a:gs pos="0">
                <a:srgbClr val="0A0B10"/>
              </a:gs>
              <a:gs pos="100000">
                <a:srgbClr val="3B1F7A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GlowOrb"/>
          <p:cNvSpPr/>
          <p:nvPr/>
        </p:nvSpPr>
        <p:spPr>
          <a:xfrm>
            <a:off x="2377439" y="-3474720"/>
            <a:ext cx="7315200" cy="7315200"/>
          </a:xfrm>
          <a:prstGeom prst="ellipse">
            <a:avLst/>
          </a:prstGeom>
          <a:solidFill>
            <a:srgbClr val="B497C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GlowOrb_1"/>
          <p:cNvSpPr/>
          <p:nvPr/>
        </p:nvSpPr>
        <p:spPr>
          <a:xfrm>
            <a:off x="3547871" y="-2304288"/>
            <a:ext cx="4974336" cy="4974336"/>
          </a:xfrm>
          <a:prstGeom prst="ellipse">
            <a:avLst/>
          </a:prstGeom>
          <a:solidFill>
            <a:srgbClr val="B497C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GlowOrb_2"/>
          <p:cNvSpPr/>
          <p:nvPr/>
        </p:nvSpPr>
        <p:spPr>
          <a:xfrm>
            <a:off x="4572000" y="-1280160"/>
            <a:ext cx="2926080" cy="2926080"/>
          </a:xfrm>
          <a:prstGeom prst="ellipse">
            <a:avLst/>
          </a:prstGeom>
          <a:solidFill>
            <a:srgbClr val="B497C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GlowOrb_3"/>
          <p:cNvSpPr/>
          <p:nvPr/>
        </p:nvSpPr>
        <p:spPr>
          <a:xfrm>
            <a:off x="5193792" y="-475488"/>
            <a:ext cx="1316736" cy="1316736"/>
          </a:xfrm>
          <a:prstGeom prst="ellipse">
            <a:avLst/>
          </a:prstGeom>
          <a:solidFill>
            <a:srgbClr val="B497C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8463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B497CF"/>
                </a:solidFill>
                <a:latin typeface="Consolas"/>
              </a:rPr>
              <a:t>05   IMPACT &amp;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"/>
              </a:rPr>
              <a:t>Three days early beats too late.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212080" cy="2514600"/>
          </a:xfrm>
          <a:prstGeom prst="roundRect">
            <a:avLst>
              <a:gd name="adj" fmla="val 6000"/>
            </a:avLst>
          </a:prstGeom>
          <a:solidFill>
            <a:srgbClr val="12141C">
              <a:alpha val="55000"/>
            </a:srgbClr>
          </a:solidFill>
          <a:ln w="12700">
            <a:solidFill>
              <a:srgbClr val="23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FFFFFF">
                    <a:alpha val="55000"/>
                  </a:srgbClr>
                </a:solidFill>
                <a:latin typeface="Consolas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32804"/>
            <a:ext cx="4754880" cy="4700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IN" sz="1350" b="1" dirty="0">
                <a:solidFill>
                  <a:srgbClr val="FFFFFF">
                    <a:alpha val="82000"/>
                  </a:srgb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The problem isn’t identifying struggling students .</a:t>
            </a:r>
          </a:p>
          <a:p>
            <a:pPr algn="l">
              <a:lnSpc>
                <a:spcPct val="115000"/>
              </a:lnSpc>
            </a:pPr>
            <a:r>
              <a:rPr lang="en-IN" sz="1350" b="1" i="0" dirty="0">
                <a:solidFill>
                  <a:srgbClr val="FFFFFF">
                    <a:alpha val="82000"/>
                  </a:srgb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It’s identifying them early enough to help . </a:t>
            </a:r>
            <a:endParaRPr sz="1350" b="1" i="0" dirty="0">
              <a:solidFill>
                <a:srgbClr val="FFFFFF">
                  <a:alpha val="82000"/>
                </a:srgb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68680" y="3566160"/>
            <a:ext cx="4480560" cy="146304"/>
          </a:xfrm>
          <a:prstGeom prst="roundRect">
            <a:avLst>
              <a:gd name="adj" fmla="val 50000"/>
            </a:avLst>
          </a:prstGeom>
          <a:solidFill>
            <a:srgbClr val="23263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3566160"/>
            <a:ext cx="806500" cy="1463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497CF"/>
              </a:gs>
              <a:gs pos="100000">
                <a:srgbClr val="8B85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79476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 dirty="0">
                <a:solidFill>
                  <a:srgbClr val="FFFFFF">
                    <a:alpha val="55000"/>
                  </a:srgbClr>
                </a:solidFill>
                <a:latin typeface="Segoe UI"/>
              </a:rPr>
              <a:t>Discovered on Day 14 of 14 — too late to help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057400"/>
            <a:ext cx="5486400" cy="2514600"/>
          </a:xfrm>
          <a:prstGeom prst="roundRect">
            <a:avLst>
              <a:gd name="adj" fmla="val 6000"/>
            </a:avLst>
          </a:prstGeom>
          <a:solidFill>
            <a:srgbClr val="1C1A3A">
              <a:alpha val="65000"/>
            </a:srgbClr>
          </a:solidFill>
          <a:ln w="12700">
            <a:solidFill>
              <a:srgbClr val="B49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2128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497CF"/>
                </a:solidFill>
                <a:latin typeface="Consolas"/>
              </a:rPr>
              <a:t>WITH AVANCE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606040"/>
            <a:ext cx="5029200" cy="4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 dirty="0">
                <a:solidFill>
                  <a:srgbClr val="FFFF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Command Center flags the Testing checkpoint stalled at 43%.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24612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>
                    <a:alpha val="65000"/>
                  </a:srgbClr>
                </a:solidFill>
                <a:latin typeface="Consolas"/>
              </a:rPr>
              <a:t>Testing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3273551"/>
            <a:ext cx="2880360" cy="128016"/>
          </a:xfrm>
          <a:prstGeom prst="roundRect">
            <a:avLst>
              <a:gd name="adj" fmla="val 50000"/>
            </a:avLst>
          </a:prstGeom>
          <a:solidFill>
            <a:srgbClr val="23263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909560" y="3273551"/>
            <a:ext cx="1238554" cy="128016"/>
          </a:xfrm>
          <a:prstGeom prst="roundRect">
            <a:avLst>
              <a:gd name="adj" fmla="val 50000"/>
            </a:avLst>
          </a:prstGeom>
          <a:solidFill>
            <a:srgbClr val="FBBF24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0" y="3236976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FBBF24"/>
                </a:solidFill>
                <a:latin typeface="Consolas"/>
              </a:rPr>
              <a:t>43% 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576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1">
                <a:solidFill>
                  <a:srgbClr val="34D399"/>
                </a:solidFill>
                <a:latin typeface="Segoe UI"/>
              </a:rPr>
              <a:t>Flagged on Day 11 of 14 — 3 days to intervene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10">
                <a:solidFill>
                  <a:srgbClr val="B497CF"/>
                </a:solidFill>
                <a:latin typeface="Consolas"/>
              </a:rPr>
              <a:t>STUDENTS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38928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FFFFF">
                    <a:alpha val="82000"/>
                  </a:srgbClr>
                </a:solidFill>
                <a:latin typeface="Segoe UI"/>
              </a:rPr>
              <a:t>Always know what's next — less deadline panic, motivation without humiliation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84632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10">
                <a:solidFill>
                  <a:srgbClr val="B497CF"/>
                </a:solidFill>
                <a:latin typeface="Consolas"/>
              </a:rPr>
              <a:t>INSTITUTIONS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5138928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FFFFF">
                    <a:alpha val="82000"/>
                  </a:srgbClr>
                </a:solidFill>
                <a:latin typeface="Segoe UI"/>
              </a:rPr>
              <a:t>See who needs attention before the deadline, not after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84632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10">
                <a:solidFill>
                  <a:srgbClr val="B497CF"/>
                </a:solidFill>
                <a:latin typeface="Consolas"/>
              </a:rPr>
              <a:t>SCALABILITY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138928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FFFFF">
                    <a:alpha val="82000"/>
                  </a:srgbClr>
                </a:solidFill>
                <a:latin typeface="Segoe UI"/>
              </a:rPr>
              <a:t>Org → Group → Project → Checkpoint model reuses for clubs, teams, future workplaces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FFFFFF">
                    <a:alpha val="55000"/>
                  </a:srgbClr>
                </a:solidFill>
                <a:latin typeface="Consolas"/>
              </a:rPr>
              <a:t>SIH26207 · AVANCE — SMART EDUCATION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>
                    <a:alpha val="55000"/>
                  </a:srgbClr>
                </a:solidFill>
                <a:latin typeface="Consolas"/>
              </a:rPr>
              <a:t>05 / 06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Plate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gradFill rotWithShape="1">
            <a:gsLst>
              <a:gs pos="0">
                <a:srgbClr val="0A0B10"/>
              </a:gs>
              <a:gs pos="100000">
                <a:srgbClr val="3B1F7A"/>
              </a:gs>
            </a:gsLst>
            <a:lin ang="150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GlowOrb"/>
          <p:cNvSpPr/>
          <p:nvPr/>
        </p:nvSpPr>
        <p:spPr>
          <a:xfrm>
            <a:off x="7680959" y="3383280"/>
            <a:ext cx="5852160" cy="5852160"/>
          </a:xfrm>
          <a:prstGeom prst="ellipse">
            <a:avLst/>
          </a:prstGeom>
          <a:solidFill>
            <a:srgbClr val="B497C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GlowOrb_1"/>
          <p:cNvSpPr/>
          <p:nvPr/>
        </p:nvSpPr>
        <p:spPr>
          <a:xfrm>
            <a:off x="8617305" y="4319625"/>
            <a:ext cx="3979468" cy="3979468"/>
          </a:xfrm>
          <a:prstGeom prst="ellipse">
            <a:avLst/>
          </a:prstGeom>
          <a:solidFill>
            <a:srgbClr val="B497C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GlowOrb_2"/>
          <p:cNvSpPr/>
          <p:nvPr/>
        </p:nvSpPr>
        <p:spPr>
          <a:xfrm>
            <a:off x="9436608" y="5138928"/>
            <a:ext cx="2340864" cy="2340864"/>
          </a:xfrm>
          <a:prstGeom prst="ellipse">
            <a:avLst/>
          </a:prstGeom>
          <a:solidFill>
            <a:srgbClr val="B497C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GlowOrb_3"/>
          <p:cNvSpPr/>
          <p:nvPr/>
        </p:nvSpPr>
        <p:spPr>
          <a:xfrm>
            <a:off x="10080345" y="5782665"/>
            <a:ext cx="1053388" cy="1053388"/>
          </a:xfrm>
          <a:prstGeom prst="ellipse">
            <a:avLst/>
          </a:prstGeom>
          <a:solidFill>
            <a:srgbClr val="B497C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B497CF"/>
                </a:solidFill>
                <a:latin typeface="Consolas"/>
              </a:rPr>
              <a:t>06   RESEARCH &amp;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"/>
              </a:rPr>
              <a:t>Grounded in research, not guesswork.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C1A3A">
              <a:alpha val="90000"/>
            </a:srgbClr>
          </a:solidFill>
          <a:ln w="12700">
            <a:solidFill>
              <a:srgbClr val="B49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929384"/>
            <a:ext cx="9966960" cy="255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>
                <a:solidFill>
                  <a:srgbClr val="FFFFFF">
                    <a:alpha val="85000"/>
                  </a:srgbClr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National Education Policy 2020 — flexible, learner-</a:t>
            </a:r>
            <a:r>
              <a:rPr sz="1600" b="0" i="0" dirty="0" err="1">
                <a:solidFill>
                  <a:srgbClr val="FFFFFF">
                    <a:alpha val="85000"/>
                  </a:srgbClr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centred</a:t>
            </a:r>
            <a:r>
              <a:rPr sz="1600" b="0" i="0" dirty="0">
                <a:solidFill>
                  <a:srgbClr val="FFFFFF">
                    <a:alpha val="85000"/>
                  </a:srgbClr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, technology-enabled education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700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C1A3A">
              <a:alpha val="90000"/>
            </a:srgbClr>
          </a:solidFill>
          <a:ln w="12700">
            <a:solidFill>
              <a:srgbClr val="B49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679191"/>
            <a:ext cx="9966960" cy="255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>
                <a:solidFill>
                  <a:srgbClr val="FFFFFF">
                    <a:alpha val="85000"/>
                  </a:srgbClr>
                </a:solidFill>
                <a:latin typeface="Consolas" panose="020B0609020204030204" pitchFamily="49" charset="0"/>
              </a:rPr>
              <a:t>Learning-analytics / early-warning-system research on formative, in-progress assessment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1985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C1A3A">
              <a:alpha val="90000"/>
            </a:srgbClr>
          </a:solidFill>
          <a:ln w="12700">
            <a:solidFill>
              <a:srgbClr val="B49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4198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428999"/>
            <a:ext cx="9966960" cy="255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>
                <a:solidFill>
                  <a:srgbClr val="FFFFFF">
                    <a:alpha val="85000"/>
                  </a:srgbClr>
                </a:solidFill>
                <a:latin typeface="Consolas" panose="020B0609020204030204" pitchFamily="49" charset="0"/>
              </a:rPr>
              <a:t>Gamification-in-education research on engagement effects of streaks &amp; leaderboards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69663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C1A3A">
              <a:alpha val="90000"/>
            </a:srgbClr>
          </a:solidFill>
          <a:ln w="12700">
            <a:solidFill>
              <a:srgbClr val="B49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251066"/>
            <a:ext cx="34747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178807"/>
            <a:ext cx="9966960" cy="728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>
                <a:solidFill>
                  <a:srgbClr val="FFFFFF">
                    <a:alpha val="85000"/>
                  </a:srgbClr>
                </a:solidFill>
                <a:latin typeface="Consolas" panose="020B0609020204030204" pitchFamily="49" charset="0"/>
              </a:rPr>
              <a:t>Positioning: Classroom/Moodle track endpoints only; Duolingo-style apps gamify without institutional visibility — Avance sits in the gap</a:t>
            </a:r>
            <a:r>
              <a:rPr sz="1200" b="0" i="0" dirty="0">
                <a:solidFill>
                  <a:srgbClr val="FFFFFF">
                    <a:alpha val="85000"/>
                  </a:srgbClr>
                </a:solidFill>
                <a:latin typeface="Segoe UI"/>
              </a:rPr>
              <a:t>.</a:t>
            </a:r>
            <a:endParaRPr lang="en-IN" sz="1200" b="0" i="0" dirty="0">
              <a:solidFill>
                <a:srgbClr val="FFFFFF">
                  <a:alpha val="85000"/>
                </a:srgbClr>
              </a:solidFill>
              <a:latin typeface="Segoe UI"/>
            </a:endParaRPr>
          </a:p>
          <a:p>
            <a:pPr algn="l">
              <a:lnSpc>
                <a:spcPct val="110000"/>
              </a:lnSpc>
            </a:pPr>
            <a:endParaRPr sz="1200" b="0" i="0" dirty="0">
              <a:solidFill>
                <a:srgbClr val="FFFFFF">
                  <a:alpha val="85000"/>
                </a:srgbClr>
              </a:solidFill>
              <a:latin typeface="Segoe U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" y="498348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1C1A3A">
              <a:alpha val="70000"/>
            </a:srgbClr>
          </a:solidFill>
          <a:ln w="12700">
            <a:solidFill>
              <a:srgbClr val="B49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0749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10">
                <a:solidFill>
                  <a:srgbClr val="B497CF"/>
                </a:solidFill>
                <a:latin typeface="Consolas"/>
              </a:rPr>
              <a:t>🧠 BEHAVIOURAL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49240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Streaks, small linear checkpoints and immediate visible progress are deliberately modeled on James Clear's Atomic Habits — identity-based habits, “don't break the chain,” and immediate reward loops.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41841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 dirty="0">
                <a:solidFill>
                  <a:srgbClr val="8B85FF"/>
                </a:solidFill>
                <a:latin typeface="Consolas"/>
              </a:rPr>
              <a:t>[ QR: live demo ]   Live demo: </a:t>
            </a:r>
            <a:r>
              <a:rPr sz="1100" i="0" dirty="0">
                <a:solidFill>
                  <a:srgbClr val="8B85FF"/>
                </a:solidFill>
                <a:latin typeface="Consolas"/>
              </a:rPr>
              <a:t>[</a:t>
            </a:r>
            <a:r>
              <a:rPr lang="en-IN" sz="1100" dirty="0">
                <a:solidFill>
                  <a:srgbClr val="8B85FF"/>
                </a:solidFill>
                <a:latin typeface="Consolas"/>
              </a:rPr>
              <a:t>https://avance-tufk.vercel.app/</a:t>
            </a:r>
            <a:r>
              <a:rPr sz="1100" i="0" dirty="0">
                <a:solidFill>
                  <a:srgbClr val="8B85FF"/>
                </a:solidFill>
                <a:latin typeface="Consolas"/>
              </a:rPr>
              <a:t>]</a:t>
            </a:r>
            <a:r>
              <a:rPr sz="1100" b="1" i="0" dirty="0">
                <a:solidFill>
                  <a:srgbClr val="8B85FF"/>
                </a:solidFill>
                <a:latin typeface="Consolas"/>
              </a:rPr>
              <a:t>   ·   Repo: [</a:t>
            </a:r>
            <a:r>
              <a:rPr sz="1100" b="1" i="0" dirty="0" err="1">
                <a:solidFill>
                  <a:srgbClr val="8B85FF"/>
                </a:solidFill>
                <a:latin typeface="Consolas"/>
              </a:rPr>
              <a:t>github</a:t>
            </a:r>
            <a:r>
              <a:rPr sz="1100" b="1" i="0" dirty="0">
                <a:solidFill>
                  <a:srgbClr val="8B85FF"/>
                </a:solidFill>
                <a:latin typeface="Consolas"/>
              </a:rPr>
              <a:t> link]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8978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Segoe UI"/>
              </a:rPr>
              <a:t>Thank you.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FFFFFF">
                    <a:alpha val="55000"/>
                  </a:srgbClr>
                </a:solidFill>
                <a:latin typeface="Consolas"/>
              </a:rPr>
              <a:t>SIH26207 · AVANCE — SMART EDUCATION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>
                    <a:alpha val="55000"/>
                  </a:srgbClr>
                </a:solidFill>
                <a:latin typeface="Consolas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A0B10"/>
      </a:dk1>
      <a:lt1>
        <a:srgbClr val="FFFFFF"/>
      </a:lt1>
      <a:dk2>
        <a:srgbClr val="1C1A3A"/>
      </a:dk2>
      <a:lt2>
        <a:srgbClr val="12141C"/>
      </a:lt2>
      <a:accent1>
        <a:srgbClr val="8B85FF"/>
      </a:accent1>
      <a:accent2>
        <a:srgbClr val="B497CF"/>
      </a:accent2>
      <a:accent3>
        <a:srgbClr val="34D399"/>
      </a:accent3>
      <a:accent4>
        <a:srgbClr val="FBBF24"/>
      </a:accent4>
      <a:accent5>
        <a:srgbClr val="F87171"/>
      </a:accent5>
      <a:accent6>
        <a:srgbClr val="3B1F7A"/>
      </a:accent6>
      <a:hlink>
        <a:srgbClr val="8B85FF"/>
      </a:hlink>
      <a:folHlink>
        <a:srgbClr val="B497C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699</Words>
  <Application>Microsoft Office PowerPoint</Application>
  <PresentationFormat>Widescreen</PresentationFormat>
  <Paragraphs>135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Consolas</vt:lpstr>
      <vt:lpstr>Lucida Sans Unicode</vt:lpstr>
      <vt:lpstr>Poor Richard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Anirudh K N</cp:lastModifiedBy>
  <cp:revision>5</cp:revision>
  <dcterms:created xsi:type="dcterms:W3CDTF">2013-01-27T09:14:16Z</dcterms:created>
  <dcterms:modified xsi:type="dcterms:W3CDTF">2026-09-15T10:14:02Z</dcterms:modified>
  <cp:category/>
</cp:coreProperties>
</file>